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24382413" cy="13716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6"/>
  </p:normalViewPr>
  <p:slideViewPr>
    <p:cSldViewPr snapToGrid="0">
      <p:cViewPr varScale="1">
        <p:scale>
          <a:sx n="74" d="100"/>
          <a:sy n="74" d="100"/>
        </p:scale>
        <p:origin x="2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Формат </a:t>
            </a:r>
            <a:r>
              <a:rPr dirty="0" err="1"/>
              <a:t>ключа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задании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фиксирован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 --threads P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условное</a:t>
            </a:r>
            <a:r>
              <a:rPr dirty="0"/>
              <a:t> </a:t>
            </a:r>
            <a:r>
              <a:rPr dirty="0" err="1"/>
              <a:t>обозначение</a:t>
            </a:r>
            <a:r>
              <a:rPr dirty="0"/>
              <a:t>.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корректности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интерпретации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ускорения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недоступными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потокам</a:t>
            </a:r>
            <a:r>
              <a:rPr dirty="0"/>
              <a:t>: </a:t>
            </a:r>
            <a:r>
              <a:rPr dirty="0" err="1"/>
              <a:t>указатель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передать</a:t>
            </a:r>
            <a:r>
              <a:rPr dirty="0"/>
              <a:t>. Его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обеспечить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Linux </a:t>
            </a:r>
            <a:r>
              <a:rPr dirty="0" err="1"/>
              <a:t>pthread_t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идентификатором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обязан</a:t>
            </a:r>
            <a:r>
              <a:rPr dirty="0"/>
              <a:t> </a:t>
            </a:r>
            <a:r>
              <a:rPr dirty="0" err="1"/>
              <a:t>совпадать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TID,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ОС.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визуальная</a:t>
            </a:r>
            <a:r>
              <a:rPr dirty="0"/>
              <a:t> </a:t>
            </a:r>
            <a:r>
              <a:rPr dirty="0" err="1"/>
              <a:t>аналогия</a:t>
            </a:r>
            <a:r>
              <a:rPr dirty="0"/>
              <a:t> </a:t>
            </a:r>
            <a:r>
              <a:rPr dirty="0" err="1"/>
              <a:t>адресных</a:t>
            </a:r>
            <a:r>
              <a:rPr dirty="0"/>
              <a:t> </a:t>
            </a:r>
            <a:r>
              <a:rPr dirty="0" err="1"/>
              <a:t>пространств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физических</a:t>
            </a:r>
            <a:r>
              <a:rPr dirty="0"/>
              <a:t> </a:t>
            </a:r>
            <a:r>
              <a:rPr dirty="0" err="1"/>
              <a:t>комнат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ядер</a:t>
            </a:r>
            <a:r>
              <a:rPr dirty="0"/>
              <a:t> CPU.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регистры</a:t>
            </a:r>
            <a:r>
              <a:rPr dirty="0"/>
              <a:t>,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куча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глобальные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общие</a:t>
            </a:r>
            <a:r>
              <a:rPr dirty="0"/>
              <a:t>. Процессы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организовать</a:t>
            </a:r>
            <a:r>
              <a:rPr dirty="0"/>
              <a:t> </a:t>
            </a:r>
            <a:r>
              <a:rPr dirty="0" err="1"/>
              <a:t>общую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IPC. Иллюстрация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обычную</a:t>
            </a:r>
            <a:r>
              <a:rPr dirty="0"/>
              <a:t> </a:t>
            </a:r>
            <a:r>
              <a:rPr dirty="0" err="1"/>
              <a:t>приватную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 </a:t>
            </a:r>
            <a:r>
              <a:rPr dirty="0" err="1"/>
              <a:t>Иллюстрация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 </a:t>
            </a:r>
            <a:r>
              <a:rPr dirty="0" err="1"/>
              <a:t>встроенным</a:t>
            </a:r>
            <a:r>
              <a:rPr dirty="0"/>
              <a:t> </a:t>
            </a:r>
            <a:r>
              <a:rPr dirty="0" err="1"/>
              <a:t>ImageGen</a:t>
            </a:r>
            <a:r>
              <a:rPr dirty="0"/>
              <a:t>: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комнаты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собственными</a:t>
            </a:r>
            <a:r>
              <a:rPr dirty="0"/>
              <a:t> </a:t>
            </a:r>
            <a:r>
              <a:rPr dirty="0" err="1"/>
              <a:t>работниками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, </a:t>
            </a:r>
            <a:r>
              <a:rPr dirty="0" err="1"/>
              <a:t>рядом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комната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двумя</a:t>
            </a:r>
            <a:r>
              <a:rPr dirty="0"/>
              <a:t> </a:t>
            </a:r>
            <a:r>
              <a:rPr dirty="0" err="1"/>
              <a:t>работниками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набором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левой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предполагается</a:t>
            </a:r>
            <a:r>
              <a:rPr dirty="0"/>
              <a:t> </a:t>
            </a:r>
            <a:r>
              <a:rPr dirty="0" err="1"/>
              <a:t>приватная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отображения</a:t>
            </a:r>
            <a:r>
              <a:rPr dirty="0"/>
              <a:t>. После fork </a:t>
            </a:r>
            <a:r>
              <a:rPr dirty="0" err="1"/>
              <a:t>адрес</a:t>
            </a:r>
            <a:r>
              <a:rPr dirty="0"/>
              <a:t> x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одинаковым</a:t>
            </a:r>
            <a:r>
              <a:rPr dirty="0"/>
              <a:t> </a:t>
            </a:r>
            <a:r>
              <a:rPr dirty="0" err="1"/>
              <a:t>виртуальным</a:t>
            </a:r>
            <a:r>
              <a:rPr dirty="0"/>
              <a:t> </a:t>
            </a:r>
            <a:r>
              <a:rPr dirty="0" err="1"/>
              <a:t>адресом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обновляют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правой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x </a:t>
            </a:r>
            <a:r>
              <a:rPr dirty="0" err="1"/>
              <a:t>лежит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общей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 B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mutex </a:t>
            </a:r>
            <a:r>
              <a:rPr dirty="0" err="1"/>
              <a:t>после</a:t>
            </a:r>
            <a:r>
              <a:rPr dirty="0"/>
              <a:t> unlock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A. Это 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смысловой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готовая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/man-pages/man2/fork.2.html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SMT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логические</a:t>
            </a:r>
            <a:r>
              <a:rPr dirty="0"/>
              <a:t> CPU,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полноценные</a:t>
            </a:r>
            <a:r>
              <a:rPr dirty="0"/>
              <a:t> </a:t>
            </a:r>
            <a:r>
              <a:rPr dirty="0" err="1"/>
              <a:t>физические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 UMA/NUMA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кэши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данным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ЛР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приоритеты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воспроизводить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планировщика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лекций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лекция_3.pdf: </a:t>
            </a:r>
            <a:r>
              <a:rPr dirty="0" err="1"/>
              <a:t>с</a:t>
            </a:r>
            <a:r>
              <a:rPr dirty="0"/>
              <a:t>. 2–9, 13, 17–18. лекция_4_и_5.pdf: </a:t>
            </a:r>
            <a:r>
              <a:rPr dirty="0" err="1"/>
              <a:t>с</a:t>
            </a:r>
            <a:r>
              <a:rPr dirty="0"/>
              <a:t>. 23–34, 45–50.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Многоточия </a:t>
            </a:r>
            <a:r>
              <a:rPr dirty="0" err="1"/>
              <a:t>обозначают</a:t>
            </a:r>
            <a:r>
              <a:rPr dirty="0"/>
              <a:t> </a:t>
            </a:r>
            <a:r>
              <a:rPr dirty="0" err="1"/>
              <a:t>пропущенные</a:t>
            </a:r>
            <a:r>
              <a:rPr dirty="0"/>
              <a:t> </a:t>
            </a:r>
            <a:r>
              <a:rPr dirty="0" err="1"/>
              <a:t>аргументы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исходные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 Это </a:t>
            </a:r>
            <a:r>
              <a:rPr dirty="0" err="1"/>
              <a:t>справочные</a:t>
            </a:r>
            <a:r>
              <a:rPr dirty="0"/>
              <a:t> </a:t>
            </a:r>
            <a:r>
              <a:rPr dirty="0" err="1"/>
              <a:t>фрагменты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готовая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ЛР </a:t>
            </a:r>
            <a:r>
              <a:rPr dirty="0" err="1"/>
              <a:t>достаточно</a:t>
            </a:r>
            <a:r>
              <a:rPr dirty="0"/>
              <a:t> POSIX Threads </a:t>
            </a:r>
            <a:r>
              <a:rPr dirty="0" err="1"/>
              <a:t>или</a:t>
            </a:r>
            <a:r>
              <a:rPr dirty="0"/>
              <a:t> Windows API. </a:t>
            </a:r>
            <a:r>
              <a:rPr dirty="0" err="1"/>
              <a:t>Вызов</a:t>
            </a:r>
            <a:r>
              <a:rPr dirty="0"/>
              <a:t> lock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свободном</a:t>
            </a:r>
            <a:r>
              <a:rPr dirty="0"/>
              <a:t> mutex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обойтись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перехода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/man-pages/man3/pthread_create.3.html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Функция</a:t>
            </a:r>
            <a:r>
              <a:rPr dirty="0"/>
              <a:t> worker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сигнатуру</a:t>
            </a:r>
            <a:r>
              <a:rPr dirty="0"/>
              <a:t> void *worker(void *</a:t>
            </a:r>
            <a:r>
              <a:rPr dirty="0" err="1"/>
              <a:t>arg</a:t>
            </a:r>
            <a:r>
              <a:rPr dirty="0"/>
              <a:t>). Новый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начать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раньше</a:t>
            </a:r>
            <a:r>
              <a:rPr dirty="0"/>
              <a:t> </a:t>
            </a:r>
            <a:r>
              <a:rPr dirty="0" err="1"/>
              <a:t>возврата</a:t>
            </a:r>
            <a:r>
              <a:rPr dirty="0"/>
              <a:t> </a:t>
            </a:r>
            <a:r>
              <a:rPr dirty="0" err="1"/>
              <a:t>pthread_create</a:t>
            </a:r>
            <a:r>
              <a:rPr dirty="0"/>
              <a:t>. Инициализируйте </a:t>
            </a:r>
            <a:r>
              <a:rPr dirty="0" err="1"/>
              <a:t>аргументы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. При </a:t>
            </a:r>
            <a:r>
              <a:rPr dirty="0" err="1"/>
              <a:t>ошибке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создан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join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такого</a:t>
            </a:r>
            <a:r>
              <a:rPr dirty="0"/>
              <a:t> </a:t>
            </a:r>
            <a:r>
              <a:rPr dirty="0" err="1"/>
              <a:t>tid</a:t>
            </a:r>
            <a:r>
              <a:rPr dirty="0"/>
              <a:t> </a:t>
            </a:r>
            <a:r>
              <a:rPr dirty="0" err="1"/>
              <a:t>недопустим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/man-pages/man3/pthread_create.3.html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функций</a:t>
            </a:r>
            <a:r>
              <a:rPr dirty="0"/>
              <a:t> </a:t>
            </a:r>
            <a:r>
              <a:rPr dirty="0" err="1"/>
              <a:t>pthreads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perror</a:t>
            </a:r>
            <a:r>
              <a:rPr dirty="0"/>
              <a:t>: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возвращают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устанавливают</a:t>
            </a:r>
            <a:r>
              <a:rPr dirty="0"/>
              <a:t> </a:t>
            </a:r>
            <a:r>
              <a:rPr dirty="0" err="1"/>
              <a:t>errno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pthread_create</a:t>
            </a:r>
            <a:r>
              <a:rPr dirty="0"/>
              <a:t> </a:t>
            </a:r>
            <a:r>
              <a:rPr dirty="0" err="1"/>
              <a:t>возможен</a:t>
            </a:r>
            <a:r>
              <a:rPr dirty="0"/>
              <a:t> EAGAIN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нехватке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освобождайте</a:t>
            </a:r>
            <a:r>
              <a:rPr dirty="0"/>
              <a:t>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запущенные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/man-pages/man3/pthread_create.3.html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pthread_join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0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успехе</a:t>
            </a:r>
            <a:r>
              <a:rPr dirty="0"/>
              <a:t>. result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локальную</a:t>
            </a:r>
            <a:r>
              <a:rPr dirty="0"/>
              <a:t> </a:t>
            </a:r>
            <a:r>
              <a:rPr dirty="0" err="1"/>
              <a:t>переменную</a:t>
            </a:r>
            <a:r>
              <a:rPr dirty="0"/>
              <a:t> </a:t>
            </a:r>
            <a:r>
              <a:rPr dirty="0" err="1"/>
              <a:t>завершившегося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. </a:t>
            </a:r>
            <a:r>
              <a:rPr dirty="0" err="1"/>
              <a:t>pthread_detach</a:t>
            </a:r>
            <a:r>
              <a:rPr dirty="0"/>
              <a:t> </a:t>
            </a:r>
            <a:r>
              <a:rPr dirty="0" err="1"/>
              <a:t>освобождает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завершении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лишает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join.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ЛР join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. </a:t>
            </a:r>
            <a:r>
              <a:rPr dirty="0" err="1"/>
              <a:t>Возврат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main </a:t>
            </a:r>
            <a:r>
              <a:rPr dirty="0" err="1"/>
              <a:t>и</a:t>
            </a:r>
            <a:r>
              <a:rPr dirty="0"/>
              <a:t> exit </a:t>
            </a:r>
            <a:r>
              <a:rPr dirty="0" err="1"/>
              <a:t>завершают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/man-pages/man3/pthread_join.3.html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задании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уточнено</a:t>
            </a:r>
            <a:r>
              <a:rPr dirty="0"/>
              <a:t>, </a:t>
            </a:r>
            <a:r>
              <a:rPr dirty="0" err="1"/>
              <a:t>входит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лимит</a:t>
            </a:r>
            <a:r>
              <a:rPr dirty="0"/>
              <a:t>. </a:t>
            </a:r>
            <a:r>
              <a:rPr dirty="0" err="1"/>
              <a:t>Консервативная</a:t>
            </a:r>
            <a:r>
              <a:rPr dirty="0"/>
              <a:t> </a:t>
            </a:r>
            <a:r>
              <a:rPr dirty="0" err="1"/>
              <a:t>трактовка</a:t>
            </a:r>
            <a:r>
              <a:rPr dirty="0"/>
              <a:t> — </a:t>
            </a:r>
            <a:r>
              <a:rPr dirty="0" err="1"/>
              <a:t>лимит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 Если </a:t>
            </a:r>
            <a:r>
              <a:rPr dirty="0" err="1"/>
              <a:t>преподаватель</a:t>
            </a:r>
            <a:r>
              <a:rPr dirty="0"/>
              <a:t> </a:t>
            </a:r>
            <a:r>
              <a:rPr dirty="0" err="1"/>
              <a:t>считает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рабочие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,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укажите</a:t>
            </a:r>
            <a:r>
              <a:rPr dirty="0"/>
              <a:t> </a:t>
            </a:r>
            <a:r>
              <a:rPr dirty="0" err="1"/>
              <a:t>соглашение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отчёте</a:t>
            </a:r>
            <a:r>
              <a:rPr dirty="0"/>
              <a:t>. Семафор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созданных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. Пул </a:t>
            </a:r>
            <a:r>
              <a:rPr dirty="0" err="1"/>
              <a:t>фиксированного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—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способов</a:t>
            </a:r>
            <a:r>
              <a:rPr dirty="0"/>
              <a:t> </a:t>
            </a:r>
            <a:r>
              <a:rPr dirty="0" err="1"/>
              <a:t>обеспечить</a:t>
            </a:r>
            <a:r>
              <a:rPr dirty="0"/>
              <a:t> </a:t>
            </a:r>
            <a:r>
              <a:rPr dirty="0" err="1"/>
              <a:t>лимит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приводится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Потерянное</a:t>
            </a:r>
            <a:r>
              <a:rPr dirty="0"/>
              <a:t> </a:t>
            </a:r>
            <a:r>
              <a:rPr dirty="0" err="1"/>
              <a:t>обновление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иллюстрация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поведения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гонкой</a:t>
            </a:r>
            <a:r>
              <a:rPr dirty="0"/>
              <a:t>. </a:t>
            </a:r>
            <a:r>
              <a:rPr dirty="0" err="1"/>
              <a:t>Одновременное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 </a:t>
            </a:r>
            <a:r>
              <a:rPr dirty="0" err="1"/>
              <a:t>неизменяемых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допустимо</a:t>
            </a:r>
            <a:r>
              <a:rPr dirty="0"/>
              <a:t>.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непересекающиеся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обойтись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mutex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элементе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Учебная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неатомарного</a:t>
            </a:r>
            <a:r>
              <a:rPr dirty="0"/>
              <a:t> read-modify-write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начальном</a:t>
            </a:r>
            <a:r>
              <a:rPr dirty="0"/>
              <a:t> x = 10. Два </a:t>
            </a:r>
            <a:r>
              <a:rPr dirty="0" err="1"/>
              <a:t>инкремента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последовательном</a:t>
            </a:r>
            <a:r>
              <a:rPr dirty="0"/>
              <a:t> </a:t>
            </a:r>
            <a:r>
              <a:rPr dirty="0" err="1"/>
              <a:t>выполнении</a:t>
            </a:r>
            <a:r>
              <a:rPr dirty="0"/>
              <a:t> </a:t>
            </a:r>
            <a:r>
              <a:rPr dirty="0" err="1"/>
              <a:t>дали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12,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чередование</a:t>
            </a:r>
            <a:r>
              <a:rPr dirty="0"/>
              <a:t> </a:t>
            </a:r>
            <a:r>
              <a:rPr dirty="0" err="1"/>
              <a:t>чтений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</a:t>
            </a:r>
            <a:r>
              <a:rPr dirty="0" err="1"/>
              <a:t>оставляет</a:t>
            </a:r>
            <a:r>
              <a:rPr dirty="0"/>
              <a:t> 11.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гонкой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неопределённое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: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иллюстрирует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предсказывает</a:t>
            </a:r>
            <a:r>
              <a:rPr dirty="0"/>
              <a:t> </a:t>
            </a:r>
            <a:r>
              <a:rPr dirty="0" err="1"/>
              <a:t>гарантированный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Mutex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защищать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Фрагмент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вызовов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полную</a:t>
            </a:r>
            <a:r>
              <a:rPr dirty="0"/>
              <a:t> </a:t>
            </a:r>
            <a:r>
              <a:rPr dirty="0" err="1"/>
              <a:t>обработку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 Альтернатива </a:t>
            </a:r>
            <a:r>
              <a:rPr dirty="0" err="1"/>
              <a:t>статическому</a:t>
            </a:r>
            <a:r>
              <a:rPr dirty="0"/>
              <a:t> </a:t>
            </a:r>
            <a:r>
              <a:rPr dirty="0" err="1"/>
              <a:t>инициализатору</a:t>
            </a:r>
            <a:r>
              <a:rPr dirty="0"/>
              <a:t> — </a:t>
            </a:r>
            <a:r>
              <a:rPr dirty="0" err="1"/>
              <a:t>pthread_mutex_init</a:t>
            </a:r>
            <a:r>
              <a:rPr dirty="0"/>
              <a:t>(&amp;m, NULL). </a:t>
            </a:r>
            <a:r>
              <a:rPr dirty="0" err="1"/>
              <a:t>pthread_mutex_trylock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EBUSY, </a:t>
            </a:r>
            <a:r>
              <a:rPr dirty="0" err="1"/>
              <a:t>если</a:t>
            </a:r>
            <a:r>
              <a:rPr dirty="0"/>
              <a:t> mutex </a:t>
            </a:r>
            <a:r>
              <a:rPr dirty="0" err="1"/>
              <a:t>занят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обычного</a:t>
            </a:r>
            <a:r>
              <a:rPr dirty="0"/>
              <a:t> non-robust mutex </a:t>
            </a:r>
            <a:r>
              <a:rPr dirty="0" err="1"/>
              <a:t>успешный</a:t>
            </a:r>
            <a:r>
              <a:rPr dirty="0"/>
              <a:t> lock/unlock </a:t>
            </a:r>
            <a:r>
              <a:rPr dirty="0" err="1"/>
              <a:t>возвращает</a:t>
            </a:r>
            <a:r>
              <a:rPr dirty="0"/>
              <a:t> 0.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держите</a:t>
            </a:r>
            <a:r>
              <a:rPr dirty="0"/>
              <a:t> mutex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долгих</a:t>
            </a:r>
            <a:r>
              <a:rPr dirty="0"/>
              <a:t> </a:t>
            </a:r>
            <a:r>
              <a:rPr dirty="0" err="1"/>
              <a:t>независимых</a:t>
            </a:r>
            <a:r>
              <a:rPr dirty="0"/>
              <a:t> </a:t>
            </a:r>
            <a:r>
              <a:rPr dirty="0" err="1"/>
              <a:t>вычислений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Фиолетовая</a:t>
            </a:r>
            <a:r>
              <a:rPr dirty="0"/>
              <a:t> </a:t>
            </a:r>
            <a:r>
              <a:rPr dirty="0" err="1"/>
              <a:t>кепка</a:t>
            </a:r>
            <a:r>
              <a:rPr dirty="0"/>
              <a:t> — </a:t>
            </a:r>
            <a:r>
              <a:rPr dirty="0" err="1"/>
              <a:t>поток</a:t>
            </a:r>
            <a:r>
              <a:rPr dirty="0"/>
              <a:t> A, </a:t>
            </a:r>
            <a:r>
              <a:rPr dirty="0" err="1"/>
              <a:t>бирюзовая</a:t>
            </a:r>
            <a:r>
              <a:rPr dirty="0"/>
              <a:t> — </a:t>
            </a:r>
            <a:r>
              <a:rPr dirty="0" err="1"/>
              <a:t>поток</a:t>
            </a:r>
            <a:r>
              <a:rPr dirty="0"/>
              <a:t> B. </a:t>
            </a:r>
            <a:r>
              <a:rPr dirty="0" err="1"/>
              <a:t>Ключ</a:t>
            </a:r>
            <a:r>
              <a:rPr dirty="0"/>
              <a:t> — </a:t>
            </a:r>
            <a:r>
              <a:rPr dirty="0" err="1"/>
              <a:t>право</a:t>
            </a:r>
            <a:r>
              <a:rPr dirty="0"/>
              <a:t> </a:t>
            </a:r>
            <a:r>
              <a:rPr dirty="0" err="1"/>
              <a:t>владения</a:t>
            </a:r>
            <a:r>
              <a:rPr dirty="0"/>
              <a:t> mutex, </a:t>
            </a:r>
            <a:r>
              <a:rPr dirty="0" err="1"/>
              <a:t>оранжевый</a:t>
            </a:r>
            <a:r>
              <a:rPr dirty="0"/>
              <a:t> </a:t>
            </a:r>
            <a:r>
              <a:rPr dirty="0" err="1"/>
              <a:t>ящик</a:t>
            </a:r>
            <a:r>
              <a:rPr dirty="0"/>
              <a:t> —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. Панели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момента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ресурсом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 </a:t>
            </a:r>
            <a:r>
              <a:rPr dirty="0" err="1"/>
              <a:t>Нормальная</a:t>
            </a:r>
            <a:r>
              <a:rPr dirty="0"/>
              <a:t> </a:t>
            </a: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завершается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освобождает</a:t>
            </a:r>
            <a:r>
              <a:rPr dirty="0"/>
              <a:t> mutex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ожидающий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. </a:t>
            </a:r>
            <a:r>
              <a:rPr dirty="0" err="1"/>
              <a:t>Строгая</a:t>
            </a:r>
            <a:r>
              <a:rPr dirty="0"/>
              <a:t> </a:t>
            </a:r>
            <a:r>
              <a:rPr dirty="0" err="1"/>
              <a:t>очерёдность</a:t>
            </a:r>
            <a:r>
              <a:rPr dirty="0"/>
              <a:t> FIFO </a:t>
            </a:r>
            <a:r>
              <a:rPr dirty="0" err="1"/>
              <a:t>обычным</a:t>
            </a:r>
            <a:r>
              <a:rPr dirty="0"/>
              <a:t> mutex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гарантирована</a:t>
            </a:r>
            <a:r>
              <a:rPr dirty="0"/>
              <a:t>. </a:t>
            </a:r>
            <a:r>
              <a:rPr dirty="0" err="1"/>
              <a:t>Иллюстрация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 </a:t>
            </a:r>
            <a:r>
              <a:rPr dirty="0" err="1"/>
              <a:t>встроенным</a:t>
            </a:r>
            <a:r>
              <a:rPr dirty="0"/>
              <a:t> </a:t>
            </a:r>
            <a:r>
              <a:rPr dirty="0" err="1"/>
              <a:t>ImageGen</a:t>
            </a:r>
            <a:r>
              <a:rPr dirty="0"/>
              <a:t>: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панели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A </a:t>
            </a:r>
            <a:r>
              <a:rPr dirty="0" err="1"/>
              <a:t>и</a:t>
            </a:r>
            <a:r>
              <a:rPr dirty="0"/>
              <a:t> B </a:t>
            </a:r>
            <a:r>
              <a:rPr dirty="0" err="1"/>
              <a:t>ждёт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B </a:t>
            </a:r>
            <a:r>
              <a:rPr dirty="0" err="1"/>
              <a:t>и</a:t>
            </a:r>
            <a:r>
              <a:rPr dirty="0"/>
              <a:t> A </a:t>
            </a:r>
            <a:r>
              <a:rPr dirty="0" err="1"/>
              <a:t>отошёл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ready </a:t>
            </a:r>
            <a:r>
              <a:rPr dirty="0" err="1"/>
              <a:t>читают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mutex. </a:t>
            </a:r>
            <a:r>
              <a:rPr dirty="0" err="1"/>
              <a:t>Поток</a:t>
            </a:r>
            <a:r>
              <a:rPr dirty="0"/>
              <a:t>, </a:t>
            </a:r>
            <a:r>
              <a:rPr dirty="0" err="1"/>
              <a:t>изменяющий</a:t>
            </a:r>
            <a:r>
              <a:rPr dirty="0"/>
              <a:t> ready,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m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посылает</a:t>
            </a:r>
            <a:r>
              <a:rPr dirty="0"/>
              <a:t> signal </a:t>
            </a:r>
            <a:r>
              <a:rPr dirty="0" err="1"/>
              <a:t>или</a:t>
            </a:r>
            <a:r>
              <a:rPr dirty="0"/>
              <a:t> broadcast. signal </a:t>
            </a:r>
            <a:r>
              <a:rPr dirty="0" err="1"/>
              <a:t>пробуждает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ожидающего</a:t>
            </a:r>
            <a:r>
              <a:rPr dirty="0"/>
              <a:t>, broadcast — </a:t>
            </a:r>
            <a:r>
              <a:rPr dirty="0" err="1"/>
              <a:t>всех</a:t>
            </a:r>
            <a:r>
              <a:rPr dirty="0"/>
              <a:t>. Возможны </a:t>
            </a:r>
            <a:r>
              <a:rPr dirty="0" err="1"/>
              <a:t>ложные</a:t>
            </a:r>
            <a:r>
              <a:rPr dirty="0"/>
              <a:t> </a:t>
            </a:r>
            <a:r>
              <a:rPr dirty="0" err="1"/>
              <a:t>пробуждения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уведомление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событие</a:t>
            </a:r>
            <a:r>
              <a:rPr dirty="0"/>
              <a:t>. </a:t>
            </a:r>
            <a:r>
              <a:rPr dirty="0" err="1"/>
              <a:t>Инициализация</a:t>
            </a:r>
            <a:r>
              <a:rPr dirty="0"/>
              <a:t>: PTHREAD_COND_INITIALIZER </a:t>
            </a:r>
            <a:r>
              <a:rPr dirty="0" err="1"/>
              <a:t>либо</a:t>
            </a:r>
            <a:r>
              <a:rPr dirty="0"/>
              <a:t> </a:t>
            </a:r>
            <a:r>
              <a:rPr dirty="0" err="1"/>
              <a:t>pthread_cond_init</a:t>
            </a:r>
            <a:r>
              <a:rPr dirty="0"/>
              <a:t>. После </a:t>
            </a:r>
            <a:r>
              <a:rPr dirty="0" err="1"/>
              <a:t>завершения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— </a:t>
            </a:r>
            <a:r>
              <a:rPr dirty="0" err="1"/>
              <a:t>pthread_cond_destroy</a:t>
            </a:r>
            <a:r>
              <a:rPr dirty="0"/>
              <a:t>. Все </a:t>
            </a:r>
            <a:r>
              <a:rPr dirty="0" err="1"/>
              <a:t>коды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обработать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/man-pages/man3/pthread_cond_wait.3p.html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 —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участвующих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. Если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завершится</a:t>
            </a:r>
            <a:r>
              <a:rPr dirty="0"/>
              <a:t> </a:t>
            </a:r>
            <a:r>
              <a:rPr dirty="0" err="1"/>
              <a:t>раньше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создан</a:t>
            </a:r>
            <a:r>
              <a:rPr dirty="0"/>
              <a:t>,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ждать</a:t>
            </a:r>
            <a:r>
              <a:rPr dirty="0"/>
              <a:t> </a:t>
            </a:r>
            <a:r>
              <a:rPr dirty="0" err="1"/>
              <a:t>бесконечно</a:t>
            </a:r>
            <a:r>
              <a:rPr dirty="0"/>
              <a:t>. </a:t>
            </a:r>
            <a:r>
              <a:rPr dirty="0" err="1"/>
              <a:t>Инициализация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, </a:t>
            </a:r>
            <a:r>
              <a:rPr dirty="0" err="1"/>
              <a:t>уничтожение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 POSIX barriers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Linux,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штатный</a:t>
            </a:r>
            <a:r>
              <a:rPr dirty="0"/>
              <a:t> </a:t>
            </a:r>
            <a:r>
              <a:rPr dirty="0" err="1"/>
              <a:t>pthread_barrier</a:t>
            </a:r>
            <a:r>
              <a:rPr dirty="0"/>
              <a:t>_* </a:t>
            </a:r>
            <a:r>
              <a:rPr dirty="0" err="1"/>
              <a:t>отсутствует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macOS. Для </a:t>
            </a:r>
            <a:r>
              <a:rPr dirty="0" err="1"/>
              <a:t>переносимого</a:t>
            </a:r>
            <a:r>
              <a:rPr dirty="0"/>
              <a:t> </a:t>
            </a:r>
            <a:r>
              <a:rPr dirty="0" err="1"/>
              <a:t>варианта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mutex </a:t>
            </a:r>
            <a:r>
              <a:rPr dirty="0" err="1"/>
              <a:t>и</a:t>
            </a:r>
            <a:r>
              <a:rPr dirty="0"/>
              <a:t> condition variable.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/man-pages/man3/pthread_barrier_wait.3p.html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pshared</a:t>
            </a:r>
            <a:r>
              <a:rPr dirty="0"/>
              <a:t>=0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потоками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pthread-функций</a:t>
            </a:r>
            <a:r>
              <a:rPr dirty="0"/>
              <a:t> </a:t>
            </a:r>
            <a:r>
              <a:rPr dirty="0" err="1"/>
              <a:t>sem_wait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-1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errno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EINTR </a:t>
            </a:r>
            <a:r>
              <a:rPr dirty="0" err="1"/>
              <a:t>ожидание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повторяют</a:t>
            </a:r>
            <a:r>
              <a:rPr dirty="0"/>
              <a:t>. Все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 Семафор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ресурсу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созданных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. </a:t>
            </a:r>
            <a:r>
              <a:rPr dirty="0" err="1"/>
              <a:t>Неименованные</a:t>
            </a:r>
            <a:r>
              <a:rPr dirty="0"/>
              <a:t> POSIX </a:t>
            </a:r>
            <a:r>
              <a:rPr dirty="0" err="1"/>
              <a:t>семафоры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поддерживаются</a:t>
            </a:r>
            <a:r>
              <a:rPr dirty="0"/>
              <a:t> </a:t>
            </a:r>
            <a:r>
              <a:rPr dirty="0" err="1"/>
              <a:t>штатным</a:t>
            </a:r>
            <a:r>
              <a:rPr dirty="0"/>
              <a:t> </a:t>
            </a:r>
            <a:r>
              <a:rPr dirty="0" err="1"/>
              <a:t>sem_init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macOS.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/man-pages/man3/sem_init.3.html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Четыре </a:t>
            </a:r>
            <a:r>
              <a:rPr dirty="0" err="1"/>
              <a:t>необходимых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: </a:t>
            </a:r>
            <a:r>
              <a:rPr dirty="0" err="1"/>
              <a:t>взаимное</a:t>
            </a:r>
            <a:r>
              <a:rPr dirty="0"/>
              <a:t> </a:t>
            </a:r>
            <a:r>
              <a:rPr dirty="0" err="1"/>
              <a:t>исключение</a:t>
            </a:r>
            <a:r>
              <a:rPr dirty="0"/>
              <a:t>, </a:t>
            </a:r>
            <a:r>
              <a:rPr dirty="0" err="1"/>
              <a:t>удержание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ожидание</a:t>
            </a:r>
            <a:r>
              <a:rPr dirty="0"/>
              <a:t>,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принудительного</a:t>
            </a:r>
            <a:r>
              <a:rPr dirty="0"/>
              <a:t> </a:t>
            </a:r>
            <a:r>
              <a:rPr dirty="0" err="1"/>
              <a:t>отъёма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, </a:t>
            </a:r>
            <a:r>
              <a:rPr dirty="0" err="1"/>
              <a:t>циклическое</a:t>
            </a:r>
            <a:r>
              <a:rPr dirty="0"/>
              <a:t> </a:t>
            </a:r>
            <a:r>
              <a:rPr dirty="0" err="1"/>
              <a:t>ожидание</a:t>
            </a:r>
            <a:r>
              <a:rPr dirty="0"/>
              <a:t>.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устраняет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. </a:t>
            </a:r>
            <a:r>
              <a:rPr dirty="0" err="1"/>
              <a:t>Голодание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deadlock: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целом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лекция_4_и_5.pdf: </a:t>
            </a:r>
            <a:r>
              <a:rPr dirty="0" err="1"/>
              <a:t>с</a:t>
            </a:r>
            <a:r>
              <a:rPr dirty="0"/>
              <a:t>. 4–10, 21.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Красный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соответствует</a:t>
            </a:r>
            <a:r>
              <a:rPr dirty="0"/>
              <a:t> m1, </a:t>
            </a:r>
            <a:r>
              <a:rPr dirty="0" err="1"/>
              <a:t>синий</a:t>
            </a:r>
            <a:r>
              <a:rPr dirty="0"/>
              <a:t> — m2. Каждый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удерживает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mutex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запрашивает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освобождая</a:t>
            </a:r>
            <a:r>
              <a:rPr dirty="0"/>
              <a:t> </a:t>
            </a:r>
            <a:r>
              <a:rPr dirty="0" err="1"/>
              <a:t>первый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обычного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,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освобождение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ждёт</a:t>
            </a:r>
            <a:r>
              <a:rPr dirty="0"/>
              <a:t>. Если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захватывают</a:t>
            </a:r>
            <a:r>
              <a:rPr dirty="0"/>
              <a:t> m1 </a:t>
            </a:r>
            <a:r>
              <a:rPr dirty="0" err="1"/>
              <a:t>перед</a:t>
            </a:r>
            <a:r>
              <a:rPr dirty="0"/>
              <a:t> m2,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ожидающий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 </a:t>
            </a:r>
            <a:r>
              <a:rPr dirty="0" err="1"/>
              <a:t>владеть</a:t>
            </a:r>
            <a:r>
              <a:rPr dirty="0"/>
              <a:t> m2: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ожиданий</a:t>
            </a:r>
            <a:r>
              <a:rPr dirty="0"/>
              <a:t> </a:t>
            </a:r>
            <a:r>
              <a:rPr dirty="0" err="1"/>
              <a:t>исчезает</a:t>
            </a:r>
            <a:r>
              <a:rPr dirty="0"/>
              <a:t>. </a:t>
            </a:r>
            <a:r>
              <a:rPr dirty="0" err="1"/>
              <a:t>Иллюстрация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 </a:t>
            </a:r>
            <a:r>
              <a:rPr dirty="0" err="1"/>
              <a:t>встроенным</a:t>
            </a:r>
            <a:r>
              <a:rPr dirty="0"/>
              <a:t> </a:t>
            </a:r>
            <a:r>
              <a:rPr dirty="0" err="1"/>
              <a:t>ImageGen</a:t>
            </a:r>
            <a:r>
              <a:rPr dirty="0"/>
              <a:t>: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работника</a:t>
            </a:r>
            <a:r>
              <a:rPr dirty="0"/>
              <a:t> </a:t>
            </a:r>
            <a:r>
              <a:rPr dirty="0" err="1"/>
              <a:t>удерживают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 </a:t>
            </a:r>
            <a:r>
              <a:rPr dirty="0" err="1"/>
              <a:t>цветной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тянутся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чужому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отдавая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лекция_4_и_5.pdf: </a:t>
            </a:r>
            <a:r>
              <a:rPr dirty="0" err="1"/>
              <a:t>с</a:t>
            </a:r>
            <a:r>
              <a:rPr dirty="0"/>
              <a:t>. 4–10,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Сохраните</a:t>
            </a:r>
            <a:r>
              <a:rPr dirty="0"/>
              <a:t> HANDLE, </a:t>
            </a:r>
            <a:r>
              <a:rPr dirty="0" err="1"/>
              <a:t>возвращённый</a:t>
            </a:r>
            <a:r>
              <a:rPr dirty="0"/>
              <a:t> </a:t>
            </a:r>
            <a:r>
              <a:rPr dirty="0" err="1"/>
              <a:t>CreateThread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NULL </a:t>
            </a:r>
            <a:r>
              <a:rPr dirty="0" err="1"/>
              <a:t>проверьте</a:t>
            </a:r>
            <a:r>
              <a:rPr dirty="0"/>
              <a:t> </a:t>
            </a:r>
            <a:r>
              <a:rPr dirty="0" err="1"/>
              <a:t>GetLastError</a:t>
            </a:r>
            <a:r>
              <a:rPr dirty="0"/>
              <a:t>. Для </a:t>
            </a:r>
            <a:r>
              <a:rPr dirty="0" err="1"/>
              <a:t>ожидания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</a:t>
            </a:r>
            <a:r>
              <a:rPr dirty="0" err="1"/>
              <a:t>ожидается</a:t>
            </a:r>
            <a:r>
              <a:rPr dirty="0"/>
              <a:t> WAIT_OBJECT_0, </a:t>
            </a:r>
            <a:r>
              <a:rPr dirty="0" err="1"/>
              <a:t>при</a:t>
            </a:r>
            <a:r>
              <a:rPr dirty="0"/>
              <a:t> WAIT_FAILED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GetLastError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worker </a:t>
            </a:r>
            <a:r>
              <a:rPr dirty="0" err="1"/>
              <a:t>использует</a:t>
            </a:r>
            <a:r>
              <a:rPr dirty="0"/>
              <a:t> C runtime </a:t>
            </a:r>
            <a:r>
              <a:rPr dirty="0" err="1"/>
              <a:t>в</a:t>
            </a:r>
            <a:r>
              <a:rPr dirty="0"/>
              <a:t> MSVC, </a:t>
            </a:r>
            <a:r>
              <a:rPr dirty="0" err="1"/>
              <a:t>применяют</a:t>
            </a:r>
            <a:r>
              <a:rPr dirty="0"/>
              <a:t> _</a:t>
            </a:r>
            <a:r>
              <a:rPr dirty="0" err="1"/>
              <a:t>beginthreadex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process.h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сигнатурой</a:t>
            </a:r>
            <a:r>
              <a:rPr dirty="0"/>
              <a:t> unsigned __</a:t>
            </a:r>
            <a:r>
              <a:rPr dirty="0" err="1"/>
              <a:t>stdcall</a:t>
            </a:r>
            <a:r>
              <a:rPr dirty="0"/>
              <a:t> worker(void *). </a:t>
            </a:r>
            <a:r>
              <a:rPr dirty="0" err="1"/>
              <a:t>Полученный</a:t>
            </a:r>
            <a:r>
              <a:rPr dirty="0"/>
              <a:t> HANDLE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ожидают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закрывают</a:t>
            </a:r>
            <a:r>
              <a:rPr dirty="0"/>
              <a:t>. </a:t>
            </a:r>
            <a:r>
              <a:rPr dirty="0" err="1"/>
              <a:t>TerminateThread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штатного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</a:t>
            </a:r>
            <a:r>
              <a:rPr dirty="0" err="1"/>
              <a:t>procthread</a:t>
            </a:r>
            <a:r>
              <a:rPr dirty="0"/>
              <a:t>/creating-threads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</a:t>
            </a:r>
            <a:r>
              <a:rPr dirty="0" err="1"/>
              <a:t>cpp</a:t>
            </a:r>
            <a:r>
              <a:rPr dirty="0"/>
              <a:t>/c-runtime-library/reference/</a:t>
            </a:r>
            <a:r>
              <a:rPr dirty="0" err="1"/>
              <a:t>beginthread-beginthreadex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SleepConditionVariableCS</a:t>
            </a:r>
            <a:r>
              <a:rPr dirty="0"/>
              <a:t> </a:t>
            </a:r>
            <a:r>
              <a:rPr dirty="0" err="1"/>
              <a:t>вызывается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захваченной</a:t>
            </a:r>
            <a:r>
              <a:rPr dirty="0"/>
              <a:t> </a:t>
            </a:r>
            <a:r>
              <a:rPr dirty="0" err="1"/>
              <a:t>критической</a:t>
            </a:r>
            <a:r>
              <a:rPr dirty="0"/>
              <a:t> </a:t>
            </a:r>
            <a:r>
              <a:rPr dirty="0" err="1"/>
              <a:t>секцией</a:t>
            </a:r>
            <a:r>
              <a:rPr dirty="0"/>
              <a:t>: </a:t>
            </a:r>
            <a:r>
              <a:rPr dirty="0" err="1"/>
              <a:t>отпускает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захватывает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возвратом</a:t>
            </a:r>
            <a:r>
              <a:rPr dirty="0"/>
              <a:t>. Критическую </a:t>
            </a:r>
            <a:r>
              <a:rPr dirty="0" err="1"/>
              <a:t>секцию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уничтожать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. CONDITION_VARIABLE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уничтожения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межпроцессного</a:t>
            </a:r>
            <a:r>
              <a:rPr dirty="0"/>
              <a:t> mutex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CreateMutex</a:t>
            </a:r>
            <a:r>
              <a:rPr dirty="0"/>
              <a:t>, </a:t>
            </a:r>
            <a:r>
              <a:rPr dirty="0" err="1"/>
              <a:t>WaitForSingleObject</a:t>
            </a:r>
            <a:r>
              <a:rPr dirty="0"/>
              <a:t>, </a:t>
            </a:r>
            <a:r>
              <a:rPr dirty="0" err="1"/>
              <a:t>ReleaseMutex</a:t>
            </a:r>
            <a:r>
              <a:rPr dirty="0"/>
              <a:t>, </a:t>
            </a:r>
            <a:r>
              <a:rPr dirty="0" err="1"/>
              <a:t>CloseHandle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счётчика</a:t>
            </a:r>
            <a:r>
              <a:rPr dirty="0"/>
              <a:t> </a:t>
            </a:r>
            <a:r>
              <a:rPr dirty="0" err="1"/>
              <a:t>разрешений</a:t>
            </a:r>
            <a:r>
              <a:rPr dirty="0"/>
              <a:t> — </a:t>
            </a:r>
            <a:r>
              <a:rPr dirty="0" err="1"/>
              <a:t>CreateSemaphore</a:t>
            </a:r>
            <a:r>
              <a:rPr dirty="0"/>
              <a:t>, </a:t>
            </a:r>
            <a:r>
              <a:rPr dirty="0" err="1"/>
              <a:t>WaitForSingleObject</a:t>
            </a:r>
            <a:r>
              <a:rPr dirty="0"/>
              <a:t>, </a:t>
            </a:r>
            <a:r>
              <a:rPr dirty="0" err="1"/>
              <a:t>ReleaseSemaphore</a:t>
            </a:r>
            <a:r>
              <a:rPr dirty="0"/>
              <a:t>, </a:t>
            </a:r>
            <a:r>
              <a:rPr dirty="0" err="1"/>
              <a:t>CloseHandle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-us/windows/win32/sync/critical-section-objects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-us/windows/win32/sync/condition-variables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Замените</a:t>
            </a:r>
            <a:r>
              <a:rPr dirty="0"/>
              <a:t> &lt;PID&gt;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запущенной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относятся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Linux </a:t>
            </a:r>
            <a:r>
              <a:rPr dirty="0" err="1"/>
              <a:t>procps</a:t>
            </a:r>
            <a:r>
              <a:rPr dirty="0"/>
              <a:t>, /proc — </a:t>
            </a:r>
            <a:r>
              <a:rPr dirty="0" err="1"/>
              <a:t>к</a:t>
            </a:r>
            <a:r>
              <a:rPr dirty="0"/>
              <a:t> Linux. </a:t>
            </a:r>
            <a:r>
              <a:rPr dirty="0" err="1"/>
              <a:t>Наблюдайте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длинного</a:t>
            </a:r>
            <a:r>
              <a:rPr dirty="0"/>
              <a:t> </a:t>
            </a:r>
            <a:r>
              <a:rPr dirty="0" err="1"/>
              <a:t>вычисления</a:t>
            </a:r>
            <a:r>
              <a:rPr dirty="0"/>
              <a:t>. Спящий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использующий</a:t>
            </a:r>
            <a:r>
              <a:rPr dirty="0"/>
              <a:t> CPU. Скриншот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наблюдения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лимита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программе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/man-pages/man1/ps.1.html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Замените</a:t>
            </a:r>
            <a:r>
              <a:rPr dirty="0"/>
              <a:t> &lt;PID&gt; </a:t>
            </a:r>
            <a:r>
              <a:rPr dirty="0" err="1"/>
              <a:t>числом</a:t>
            </a:r>
            <a:r>
              <a:rPr dirty="0"/>
              <a:t>. Get-Process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System.Diagnostics.Process</a:t>
            </a:r>
            <a:r>
              <a:rPr dirty="0"/>
              <a:t>. </a:t>
            </a:r>
            <a:r>
              <a:rPr dirty="0" err="1"/>
              <a:t>Threads.Count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Windows </a:t>
            </a:r>
            <a:r>
              <a:rPr dirty="0" err="1"/>
              <a:t>библиотеки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сравнивайте</a:t>
            </a:r>
            <a:r>
              <a:rPr dirty="0"/>
              <a:t> </a:t>
            </a:r>
            <a:r>
              <a:rPr dirty="0" err="1"/>
              <a:t>наблюдение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выбранным</a:t>
            </a:r>
            <a:r>
              <a:rPr dirty="0"/>
              <a:t> </a:t>
            </a:r>
            <a:r>
              <a:rPr dirty="0" err="1"/>
              <a:t>соглашением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лимите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объясняйте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. При </a:t>
            </a:r>
            <a:r>
              <a:rPr dirty="0" err="1"/>
              <a:t>недостатке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свойства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недоступны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</a:t>
            </a:r>
            <a:r>
              <a:rPr dirty="0" err="1"/>
              <a:t>powershell</a:t>
            </a:r>
            <a:r>
              <a:rPr dirty="0"/>
              <a:t>/module/</a:t>
            </a:r>
            <a:r>
              <a:rPr dirty="0" err="1"/>
              <a:t>microsoft.powershell.management</a:t>
            </a:r>
            <a:r>
              <a:rPr dirty="0"/>
              <a:t>/get-process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POSIX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понадобиться</a:t>
            </a:r>
            <a:r>
              <a:rPr dirty="0"/>
              <a:t> feature-test macros, </a:t>
            </a:r>
            <a:r>
              <a:rPr dirty="0" err="1"/>
              <a:t>например</a:t>
            </a:r>
            <a:r>
              <a:rPr dirty="0"/>
              <a:t> _POSIX_C_SOURCE=200809L. </a:t>
            </a:r>
            <a:r>
              <a:rPr dirty="0" err="1"/>
              <a:t>clock_gettime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0 </a:t>
            </a:r>
            <a:r>
              <a:rPr dirty="0" err="1"/>
              <a:t>либо</a:t>
            </a:r>
            <a:r>
              <a:rPr dirty="0"/>
              <a:t> -1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errno</a:t>
            </a:r>
            <a:r>
              <a:rPr dirty="0"/>
              <a:t>. QPC/QPF </a:t>
            </a:r>
            <a:r>
              <a:rPr dirty="0" err="1"/>
              <a:t>возвращают</a:t>
            </a:r>
            <a:r>
              <a:rPr dirty="0"/>
              <a:t> </a:t>
            </a:r>
            <a:r>
              <a:rPr dirty="0" err="1"/>
              <a:t>ненулевое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успехе</a:t>
            </a:r>
            <a:r>
              <a:rPr dirty="0"/>
              <a:t>. </a:t>
            </a:r>
            <a:r>
              <a:rPr dirty="0" err="1"/>
              <a:t>Перевод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секунды</a:t>
            </a:r>
            <a:r>
              <a:rPr dirty="0"/>
              <a:t> </a:t>
            </a:r>
            <a:r>
              <a:rPr dirty="0" err="1"/>
              <a:t>делайте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плавающей</a:t>
            </a:r>
            <a:r>
              <a:rPr dirty="0"/>
              <a:t> </a:t>
            </a:r>
            <a:r>
              <a:rPr dirty="0" err="1"/>
              <a:t>точкой</a:t>
            </a:r>
            <a:r>
              <a:rPr dirty="0"/>
              <a:t>. </a:t>
            </a:r>
            <a:r>
              <a:rPr dirty="0" err="1"/>
              <a:t>Укажите</a:t>
            </a:r>
            <a:r>
              <a:rPr dirty="0"/>
              <a:t>, </a:t>
            </a:r>
            <a:r>
              <a:rPr dirty="0" err="1"/>
              <a:t>включены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интервал</a:t>
            </a:r>
            <a:r>
              <a:rPr dirty="0"/>
              <a:t>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, join, </a:t>
            </a:r>
            <a:r>
              <a:rPr dirty="0" err="1"/>
              <a:t>выделение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ввод-вывод</a:t>
            </a:r>
            <a:r>
              <a:rPr dirty="0"/>
              <a:t>. Для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вычислительного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включают</a:t>
            </a:r>
            <a:r>
              <a:rPr dirty="0"/>
              <a:t>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join.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/man-pages/man3/clock_gettime.3.html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</a:t>
            </a:r>
            <a:r>
              <a:rPr dirty="0" err="1"/>
              <a:t>sysinfo</a:t>
            </a:r>
            <a:r>
              <a:rPr dirty="0"/>
              <a:t>/acquiring-high-resolution-time-stamps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3 </a:t>
            </a:r>
            <a:r>
              <a:rPr dirty="0" err="1"/>
              <a:t>эффективность</a:t>
            </a:r>
            <a:r>
              <a:rPr dirty="0"/>
              <a:t> </a:t>
            </a:r>
            <a:r>
              <a:rPr dirty="0" err="1"/>
              <a:t>обозначена</a:t>
            </a:r>
            <a:r>
              <a:rPr dirty="0"/>
              <a:t> </a:t>
            </a:r>
            <a:r>
              <a:rPr dirty="0" err="1"/>
              <a:t>Xp</a:t>
            </a:r>
            <a:r>
              <a:rPr dirty="0"/>
              <a:t>. </a:t>
            </a:r>
            <a:r>
              <a:rPr dirty="0" err="1"/>
              <a:t>Здесь</a:t>
            </a:r>
            <a:r>
              <a:rPr dirty="0"/>
              <a:t> E(P) —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отношение</a:t>
            </a:r>
            <a:r>
              <a:rPr dirty="0"/>
              <a:t>. Отдельно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сравнить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лучшей</a:t>
            </a:r>
            <a:r>
              <a:rPr dirty="0"/>
              <a:t> </a:t>
            </a:r>
            <a:r>
              <a:rPr dirty="0" err="1"/>
              <a:t>последовательной</a:t>
            </a:r>
            <a:r>
              <a:rPr dirty="0"/>
              <a:t> </a:t>
            </a:r>
            <a:r>
              <a:rPr dirty="0" err="1"/>
              <a:t>реализацией</a:t>
            </a:r>
            <a:r>
              <a:rPr dirty="0"/>
              <a:t>, </a:t>
            </a:r>
            <a:r>
              <a:rPr dirty="0" err="1"/>
              <a:t>обозначив</a:t>
            </a:r>
            <a:r>
              <a:rPr dirty="0"/>
              <a:t>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смешивайте</a:t>
            </a:r>
            <a:r>
              <a:rPr dirty="0"/>
              <a:t> P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лимита</a:t>
            </a:r>
            <a:r>
              <a:rPr dirty="0"/>
              <a:t>, </a:t>
            </a:r>
            <a:r>
              <a:rPr dirty="0" err="1"/>
              <a:t>число</a:t>
            </a:r>
            <a:r>
              <a:rPr dirty="0"/>
              <a:t> workers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участвующие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вычислении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. </a:t>
            </a:r>
            <a:r>
              <a:rPr dirty="0" err="1"/>
              <a:t>Обычно</a:t>
            </a:r>
            <a:r>
              <a:rPr dirty="0"/>
              <a:t> S(P)≤P,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сверхлинейное</a:t>
            </a:r>
            <a:r>
              <a:rPr dirty="0"/>
              <a:t> </a:t>
            </a:r>
            <a:r>
              <a:rPr dirty="0" err="1"/>
              <a:t>ускорение</a:t>
            </a:r>
            <a:r>
              <a:rPr dirty="0"/>
              <a:t> </a:t>
            </a:r>
            <a:r>
              <a:rPr dirty="0" err="1"/>
              <a:t>возможно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кэшей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лекция_3.pdf: </a:t>
            </a:r>
            <a:r>
              <a:rPr dirty="0" err="1"/>
              <a:t>с</a:t>
            </a:r>
            <a:r>
              <a:rPr dirty="0"/>
              <a:t>. 17–18.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Формула</a:t>
            </a:r>
            <a:r>
              <a:rPr dirty="0"/>
              <a:t> — </a:t>
            </a:r>
            <a:r>
              <a:rPr dirty="0" err="1"/>
              <a:t>идеальная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фиксированной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накладных</a:t>
            </a:r>
            <a:r>
              <a:rPr dirty="0"/>
              <a:t> </a:t>
            </a:r>
            <a:r>
              <a:rPr dirty="0" err="1"/>
              <a:t>расходов</a:t>
            </a:r>
            <a:r>
              <a:rPr dirty="0"/>
              <a:t>. </a:t>
            </a:r>
            <a:r>
              <a:rPr dirty="0" err="1"/>
              <a:t>Ложное</a:t>
            </a:r>
            <a:r>
              <a:rPr dirty="0"/>
              <a:t> </a:t>
            </a:r>
            <a:r>
              <a:rPr dirty="0" err="1"/>
              <a:t>совместное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возникает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кэш-линии</a:t>
            </a:r>
            <a:r>
              <a:rPr dirty="0"/>
              <a:t>. Закон Густавсона </a:t>
            </a:r>
            <a:r>
              <a:rPr dirty="0" err="1"/>
              <a:t>рассматривает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эксперимент</a:t>
            </a:r>
            <a:r>
              <a:rPr dirty="0"/>
              <a:t> —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объёма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числом</a:t>
            </a:r>
            <a:r>
              <a:rPr dirty="0"/>
              <a:t> </a:t>
            </a:r>
            <a:r>
              <a:rPr dirty="0" err="1"/>
              <a:t>процессоров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ЛР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серии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фиксированным</a:t>
            </a:r>
            <a:r>
              <a:rPr dirty="0"/>
              <a:t> </a:t>
            </a:r>
            <a:r>
              <a:rPr dirty="0" err="1"/>
              <a:t>входом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изменении</a:t>
            </a:r>
            <a:r>
              <a:rPr dirty="0"/>
              <a:t> P.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лекция_3.pdf: </a:t>
            </a:r>
            <a:r>
              <a:rPr dirty="0" err="1"/>
              <a:t>с</a:t>
            </a:r>
            <a:r>
              <a:rPr dirty="0"/>
              <a:t>. 8, 13, 17–18.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методические</a:t>
            </a:r>
            <a:r>
              <a:rPr dirty="0"/>
              <a:t> </a:t>
            </a:r>
            <a:r>
              <a:rPr dirty="0" err="1"/>
              <a:t>рекомендации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требуемому</a:t>
            </a:r>
            <a:r>
              <a:rPr dirty="0"/>
              <a:t> </a:t>
            </a:r>
            <a:r>
              <a:rPr dirty="0" err="1"/>
              <a:t>исследованию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отчёте</a:t>
            </a:r>
            <a:r>
              <a:rPr dirty="0"/>
              <a:t> </a:t>
            </a:r>
            <a:r>
              <a:rPr dirty="0" err="1"/>
              <a:t>полезны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 S(P) </a:t>
            </a:r>
            <a:r>
              <a:rPr dirty="0" err="1"/>
              <a:t>и</a:t>
            </a:r>
            <a:r>
              <a:rPr dirty="0"/>
              <a:t> E(P),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размеров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. Укажите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повторов</a:t>
            </a:r>
            <a:r>
              <a:rPr dirty="0"/>
              <a:t>,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интервала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правильности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 Для </a:t>
            </a:r>
            <a:r>
              <a:rPr dirty="0" err="1"/>
              <a:t>случайных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фиксируйте</a:t>
            </a:r>
            <a:r>
              <a:rPr dirty="0"/>
              <a:t> seed.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включайте</a:t>
            </a:r>
            <a:r>
              <a:rPr dirty="0"/>
              <a:t> sleep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 </a:t>
            </a:r>
            <a:r>
              <a:rPr dirty="0" err="1"/>
              <a:t>внутрь</a:t>
            </a:r>
            <a:r>
              <a:rPr dirty="0"/>
              <a:t> </a:t>
            </a:r>
            <a:r>
              <a:rPr dirty="0" err="1"/>
              <a:t>измеряемых</a:t>
            </a:r>
            <a:r>
              <a:rPr dirty="0"/>
              <a:t> </a:t>
            </a:r>
            <a:r>
              <a:rPr dirty="0" err="1"/>
              <a:t>вычислений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ради</a:t>
            </a:r>
            <a:r>
              <a:rPr dirty="0"/>
              <a:t> </a:t>
            </a:r>
            <a:r>
              <a:rPr dirty="0" err="1"/>
              <a:t>удобства</a:t>
            </a:r>
            <a:r>
              <a:rPr dirty="0"/>
              <a:t> </a:t>
            </a:r>
            <a:r>
              <a:rPr dirty="0" err="1"/>
              <a:t>наблюдения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  <a:p>
            <a:r>
              <a:rPr dirty="0"/>
              <a:t>лекция_3.pdf: </a:t>
            </a:r>
            <a:r>
              <a:rPr dirty="0" err="1"/>
              <a:t>с</a:t>
            </a:r>
            <a:r>
              <a:rPr dirty="0"/>
              <a:t>. 17–18.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Барьер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семафор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тогда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выбранного</a:t>
            </a:r>
            <a:r>
              <a:rPr dirty="0"/>
              <a:t> </a:t>
            </a:r>
            <a:r>
              <a:rPr dirty="0" err="1"/>
              <a:t>алгоритма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такого</a:t>
            </a:r>
            <a:r>
              <a:rPr dirty="0"/>
              <a:t> </a:t>
            </a:r>
            <a:r>
              <a:rPr dirty="0" err="1"/>
              <a:t>способа</a:t>
            </a:r>
            <a:r>
              <a:rPr dirty="0"/>
              <a:t> </a:t>
            </a:r>
            <a:r>
              <a:rPr dirty="0" err="1"/>
              <a:t>синхронизации</a:t>
            </a:r>
            <a:r>
              <a:rPr dirty="0"/>
              <a:t>. </a:t>
            </a:r>
            <a:r>
              <a:rPr dirty="0" err="1"/>
              <a:t>Отсутствие</a:t>
            </a:r>
            <a:r>
              <a:rPr dirty="0"/>
              <a:t> mutex </a:t>
            </a:r>
            <a:r>
              <a:rPr dirty="0" err="1"/>
              <a:t>само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исключает</a:t>
            </a:r>
            <a:r>
              <a:rPr dirty="0"/>
              <a:t> </a:t>
            </a:r>
            <a:r>
              <a:rPr dirty="0" err="1"/>
              <a:t>гонки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собираются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join. Перед </a:t>
            </a:r>
            <a:r>
              <a:rPr dirty="0" err="1"/>
              <a:t>защитой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объяснить</a:t>
            </a:r>
            <a:r>
              <a:rPr dirty="0"/>
              <a:t> </a:t>
            </a:r>
            <a:r>
              <a:rPr dirty="0" err="1"/>
              <a:t>лимит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ожидания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наблюдаемое</a:t>
            </a:r>
            <a:r>
              <a:rPr dirty="0"/>
              <a:t> </a:t>
            </a:r>
            <a:r>
              <a:rPr dirty="0" err="1"/>
              <a:t>ускорение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/man-pages/man3/pthread_create.3.html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/man-pages/man3/pthread_join.3.html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</a:t>
            </a:r>
            <a:r>
              <a:rPr dirty="0" err="1"/>
              <a:t>procthread</a:t>
            </a:r>
            <a:r>
              <a:rPr dirty="0"/>
              <a:t>/creating-threads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Исходная</a:t>
            </a:r>
            <a:r>
              <a:rPr dirty="0"/>
              <a:t> </a:t>
            </a:r>
            <a:r>
              <a:rPr dirty="0" err="1"/>
              <a:t>презентация</a:t>
            </a:r>
            <a:r>
              <a:rPr dirty="0"/>
              <a:t> «1_вводное_занятие (2).pptx» </a:t>
            </a:r>
            <a:r>
              <a:rPr dirty="0" err="1"/>
              <a:t>использована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шаблон</a:t>
            </a:r>
            <a:r>
              <a:rPr dirty="0"/>
              <a:t> </a:t>
            </a:r>
            <a:r>
              <a:rPr dirty="0" err="1"/>
              <a:t>оформления</a:t>
            </a:r>
            <a:r>
              <a:rPr dirty="0"/>
              <a:t>. Источники </a:t>
            </a:r>
            <a:r>
              <a:rPr dirty="0" err="1"/>
              <a:t>содержания</a:t>
            </a:r>
            <a:r>
              <a:rPr dirty="0"/>
              <a:t>: </a:t>
            </a:r>
            <a:r>
              <a:rPr dirty="0" err="1"/>
              <a:t>приложенные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курса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справочники</a:t>
            </a:r>
            <a:r>
              <a:rPr dirty="0"/>
              <a:t> API. Короткие </a:t>
            </a:r>
            <a:r>
              <a:rPr dirty="0" err="1"/>
              <a:t>фрагменты</a:t>
            </a:r>
            <a:r>
              <a:rPr dirty="0"/>
              <a:t> </a:t>
            </a:r>
            <a:r>
              <a:rPr dirty="0" err="1"/>
              <a:t>вызовов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составляют</a:t>
            </a:r>
            <a:r>
              <a:rPr dirty="0"/>
              <a:t> </a:t>
            </a:r>
            <a:r>
              <a:rPr dirty="0" err="1"/>
              <a:t>готового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варианта</a:t>
            </a:r>
            <a:r>
              <a:rPr dirty="0"/>
              <a:t> ЛР.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3.odt: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,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</a:t>
            </a:r>
          </a:p>
          <a:p>
            <a:r>
              <a:rPr dirty="0"/>
              <a:t>лекция_3.pdf: </a:t>
            </a:r>
            <a:r>
              <a:rPr dirty="0" err="1"/>
              <a:t>с</a:t>
            </a:r>
            <a:r>
              <a:rPr dirty="0"/>
              <a:t>. 2–9, 13, 17–18. лекция_4_и_5.pdf: </a:t>
            </a:r>
            <a:r>
              <a:rPr dirty="0" err="1"/>
              <a:t>с</a:t>
            </a:r>
            <a:r>
              <a:rPr dirty="0"/>
              <a:t>. 23–34, 45–50.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/man-pages/man7/pthreads.7.html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/man-pages/man3/pthread_create.3.html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/man-pages/man3/pthread_join.3.html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/man-pages/man3/pthread_mutex_lock.3p.html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/man-pages/man3/pthread_cond_wait.3p.html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/man-pages/man3/pthread_barrier_wait.3p.html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/man-pages/man3/sem_init.3.html</a:t>
            </a:r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/man-pages/man3/clock_gettime.3.html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</a:t>
            </a:r>
            <a:r>
              <a:rPr dirty="0" err="1"/>
              <a:t>procthread</a:t>
            </a:r>
            <a:r>
              <a:rPr dirty="0"/>
              <a:t>/creating-threads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</a:t>
            </a:r>
            <a:r>
              <a:rPr dirty="0" err="1"/>
              <a:t>cpp</a:t>
            </a:r>
            <a:r>
              <a:rPr dirty="0"/>
              <a:t>/c-runtime-library/reference/</a:t>
            </a:r>
            <a:r>
              <a:rPr dirty="0" err="1"/>
              <a:t>beginthread-beginthreadex</a:t>
            </a:r>
            <a:endParaRPr dirty="0"/>
          </a:p>
          <a:p>
            <a:r>
              <a:rPr dirty="0"/>
              <a:t>https://man7.org/</a:t>
            </a:r>
            <a:r>
              <a:rPr dirty="0" err="1"/>
              <a:t>linux</a:t>
            </a:r>
            <a:r>
              <a:rPr dirty="0"/>
              <a:t>/man-pages/man1/ps.1.html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-us/windows/win32/sync/critical-section-objects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-us/windows/win32/sync/condition-variables</a:t>
            </a:r>
          </a:p>
          <a:p>
            <a:r>
              <a:rPr dirty="0"/>
              <a:t>https://</a:t>
            </a:r>
            <a:r>
              <a:rPr dirty="0" err="1"/>
              <a:t>learn.microsoft.com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-us/windows/win32/</a:t>
            </a:r>
            <a:r>
              <a:rPr dirty="0" err="1"/>
              <a:t>sysinfo</a:t>
            </a:r>
            <a:r>
              <a:rPr dirty="0"/>
              <a:t>/acquiring-high-resolution-time-stamps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итульный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502A3D-2ED5-4A48-9CDE-2813F82193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2838450"/>
            <a:ext cx="22352000" cy="8039101"/>
          </a:xfrm>
        </p:spPr>
        <p:txBody>
          <a:bodyPr vert="horz" tIns="0" rIns="0" anchor="ctr">
            <a:no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Название презентации</a:t>
            </a:r>
          </a:p>
        </p:txBody>
      </p:sp>
      <p:pic>
        <p:nvPicPr>
          <p:cNvPr id="18" name="Рисунок 1"/>
          <p:cNvPicPr>
            <a:picLocks noChangeAspect="1"/>
          </p:cNvPicPr>
          <p:nvPr/>
        </p:nvPicPr>
        <p:blipFill>
          <a:blip r:embed="rId2"/>
          <a:srcRect t="7126" b="7126"/>
          <a:stretch/>
        </p:blipFill>
        <p:spPr>
          <a:xfrm>
            <a:off x="1014413" y="1016000"/>
            <a:ext cx="3539934" cy="285604"/>
          </a:xfrm>
          <a:prstGeom prst="rect">
            <a:avLst/>
          </a:prstGeom>
        </p:spPr>
      </p:pic>
      <p:sp>
        <p:nvSpPr>
          <p:cNvPr id="14" name="Текст 13">
            <a:extLst>
              <a:ext uri="{FF2B5EF4-FFF2-40B4-BE49-F238E27FC236}">
                <a16:creationId xmlns:a16="http://schemas.microsoft.com/office/drawing/2014/main" id="{A5852342-0F05-493E-84FF-5BA1734AD3A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4413" y="11833827"/>
            <a:ext cx="7243762" cy="508000"/>
          </a:xfrm>
        </p:spPr>
        <p:txBody>
          <a:bodyPr anchor="t"/>
          <a:lstStyle>
            <a:lvl1pPr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Имя Фамилия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6FF4293-C0BB-47EF-AF3E-A4310E8F5B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014413" y="12341827"/>
            <a:ext cx="7243762" cy="508000"/>
          </a:xfrm>
        </p:spPr>
        <p:txBody>
          <a:bodyPr anchor="t"/>
          <a:lstStyle>
            <a:lvl1pPr>
              <a:buNone/>
              <a:defRPr sz="3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>
              <a:buNone/>
            </a:pPr>
            <a:r>
              <a:t>Должность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929740-BD7E-433B-987C-3E45F95174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822631"/>
            <a:ext cx="10668000" cy="8039101"/>
          </a:xfrm>
        </p:spPr>
        <p:txBody>
          <a:bodyPr vert="horz" tIns="0" rIns="0" anchor="t">
            <a:no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Название презентации</a:t>
            </a:r>
          </a:p>
        </p:txBody>
      </p:sp>
      <p:pic>
        <p:nvPicPr>
          <p:cNvPr id="7" name="Рисунок 1"/>
          <p:cNvPicPr>
            <a:picLocks noChangeAspect="1"/>
          </p:cNvPicPr>
          <p:nvPr/>
        </p:nvPicPr>
        <p:blipFill>
          <a:blip r:embed="rId2"/>
          <a:srcRect t="7126" b="7126"/>
          <a:stretch/>
        </p:blipFill>
        <p:spPr>
          <a:xfrm>
            <a:off x="1014413" y="12414396"/>
            <a:ext cx="3539934" cy="2856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446"/>
            <a:ext cx="24382413" cy="1371510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58048F-D7C5-443F-83A1-C0911B0EA0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2838450"/>
            <a:ext cx="22352000" cy="8039101"/>
          </a:xfrm>
        </p:spPr>
        <p:txBody>
          <a:bodyPr vert="horz" tIns="0" rIns="0" anchor="ctr">
            <a:no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Название презентации</a:t>
            </a:r>
          </a:p>
        </p:txBody>
      </p:sp>
      <p:pic>
        <p:nvPicPr>
          <p:cNvPr id="20" name="Рисунок 1"/>
          <p:cNvPicPr>
            <a:picLocks noChangeAspect="1"/>
          </p:cNvPicPr>
          <p:nvPr/>
        </p:nvPicPr>
        <p:blipFill>
          <a:blip r:embed="rId3"/>
          <a:srcRect t="7126" b="7126"/>
          <a:stretch/>
        </p:blipFill>
        <p:spPr>
          <a:xfrm>
            <a:off x="1014413" y="1016000"/>
            <a:ext cx="3539934" cy="285604"/>
          </a:xfrm>
          <a:prstGeom prst="rect">
            <a:avLst/>
          </a:prstGeom>
        </p:spPr>
      </p:pic>
      <p:sp>
        <p:nvSpPr>
          <p:cNvPr id="15" name="Текст 13">
            <a:extLst>
              <a:ext uri="{FF2B5EF4-FFF2-40B4-BE49-F238E27FC236}">
                <a16:creationId xmlns:a16="http://schemas.microsoft.com/office/drawing/2014/main" id="{1C588B75-2BE6-41DA-8A62-6F0DEDEC564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014413" y="12341827"/>
            <a:ext cx="7243762" cy="508000"/>
          </a:xfrm>
        </p:spPr>
        <p:txBody>
          <a:bodyPr anchor="t"/>
          <a:lstStyle>
            <a:lvl1pPr>
              <a:buNone/>
              <a:defRPr sz="30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>
              <a:buNone/>
            </a:pPr>
            <a:r>
              <a:t>Должность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FDDADE3E-AF1A-427A-8B4E-1F15C6792C7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4413" y="11833827"/>
            <a:ext cx="7243762" cy="508000"/>
          </a:xfrm>
        </p:spPr>
        <p:txBody>
          <a:bodyPr anchor="t"/>
          <a:lstStyle>
            <a:lvl1pPr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Имя Фамилия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Название раздел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A4478B8-C965-4A31-BF10-51EC4E6A8F2A}"/>
              </a:ext>
            </a:extLst>
          </p:cNvPr>
          <p:cNvSpPr>
            <a:spLocks noGrp="1"/>
          </p:cNvSpPr>
          <p:nvPr/>
        </p:nvSpPr>
        <p:spPr>
          <a:xfrm>
            <a:off x="1014413" y="1002891"/>
            <a:ext cx="22353587" cy="11697108"/>
          </a:xfrm>
          <a:prstGeom prst="roundRect">
            <a:avLst>
              <a:gd name="adj" fmla="val 8767"/>
            </a:avLst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90000" bIns="0" anchor="ctr"/>
          <a:lstStyle/>
          <a:p>
            <a:pPr algn="l">
              <a:lnSpc>
                <a:spcPct val="90000"/>
              </a:lnSpc>
              <a:buNone/>
            </a:pPr>
            <a:endParaRPr sz="3000">
              <a:ln w="0"/>
              <a:solidFill>
                <a:schemeClr val="bg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FDA044-54A3-46E2-B4D7-F9A26E3C54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0413" y="1798756"/>
            <a:ext cx="10599737" cy="3323987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Название раздела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3CCEB89-B5FE-42C0-984D-5045B7BA510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030413" y="10383103"/>
            <a:ext cx="3556000" cy="1661993"/>
          </a:xfrm>
        </p:spPr>
        <p:txBody>
          <a:bodyPr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ажная мысль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63D79C25-1935-41F9-98D1-EAF41A3639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4413" y="5196005"/>
            <a:ext cx="22353585" cy="3323987"/>
          </a:xfrm>
          <a:prstGeom prst="rect">
            <a:avLst/>
          </a:prstGeom>
        </p:spPr>
        <p:txBody>
          <a:bodyPr vert="horz" lIns="0" tIns="0" rIns="0" bIns="0" anchor="ctr">
            <a:spAutoFit/>
          </a:bodyPr>
          <a:lstStyle>
            <a:lvl1pPr algn="ctr">
              <a:buNone/>
              <a:defRPr sz="120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  <a:r>
              <a:t>Какая-то точная, </a:t>
            </a:r>
            <a:br/>
            <a:r>
              <a:t>звенящая мысль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кцентны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13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446"/>
            <a:ext cx="24382413" cy="137151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7AC3A3-D42E-4984-9515-4997BD0B90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1083355"/>
            <a:ext cx="22352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Заголовок</a:t>
            </a:r>
          </a:p>
        </p:txBody>
      </p:sp>
      <p:sp>
        <p:nvSpPr>
          <p:cNvPr id="3" name="Нижний колонтитул 1">
            <a:extLst>
              <a:ext uri="{FF2B5EF4-FFF2-40B4-BE49-F238E27FC236}">
                <a16:creationId xmlns:a16="http://schemas.microsoft.com/office/drawing/2014/main" id="{B64CC9DA-9E24-413D-900A-3F8C71943B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42CD52A-77A9-46D1-ADDE-99AF2F9C809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олько заголовок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9BFC-AE8C-42A7-BB08-4FE61101A4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1083355"/>
            <a:ext cx="22352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Заголовок</a:t>
            </a:r>
          </a:p>
        </p:txBody>
      </p:sp>
      <p:sp>
        <p:nvSpPr>
          <p:cNvPr id="3" name="Нижний колонтитул 1">
            <a:extLst>
              <a:ext uri="{FF2B5EF4-FFF2-40B4-BE49-F238E27FC236}">
                <a16:creationId xmlns:a16="http://schemas.microsoft.com/office/drawing/2014/main" id="{5DB32714-980A-4150-83AC-086505C2AC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02A8385-493C-407E-B175-F97C60F01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олько заголовок сиренев.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1899-7A70-4B8C-B805-B64E0867D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1083355"/>
            <a:ext cx="22352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Заголовок</a:t>
            </a:r>
          </a:p>
        </p:txBody>
      </p:sp>
      <p:sp>
        <p:nvSpPr>
          <p:cNvPr id="3" name="Нижний колонтитул 1">
            <a:extLst>
              <a:ext uri="{FF2B5EF4-FFF2-40B4-BE49-F238E27FC236}">
                <a16:creationId xmlns:a16="http://schemas.microsoft.com/office/drawing/2014/main" id="{E8FDA4EC-7CA8-4CFF-8F50-8DB58B651BE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905A9E0-F932-4766-BC2D-74078568151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олько заголовок тёмный фо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6CD7-B868-4E2B-A902-829943092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1083355"/>
            <a:ext cx="22352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Заголовок</a:t>
            </a:r>
          </a:p>
        </p:txBody>
      </p:sp>
      <p:sp>
        <p:nvSpPr>
          <p:cNvPr id="3" name="Нижний колонтитул 1">
            <a:extLst>
              <a:ext uri="{FF2B5EF4-FFF2-40B4-BE49-F238E27FC236}">
                <a16:creationId xmlns:a16="http://schemas.microsoft.com/office/drawing/2014/main" id="{FDB1FE61-B88F-467D-8585-BB30DA939E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F587987-2BF0-4034-B732-D34257A32C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E32A58-C55C-4BD0-AD0A-8F4DE6054C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1083355"/>
            <a:ext cx="10668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2FD7D4-5764-4BF3-AC18-06D87C0C782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4413" y="5080000"/>
            <a:ext cx="10668000" cy="6604000"/>
          </a:xfrm>
        </p:spPr>
        <p:txBody>
          <a:bodyPr/>
          <a:lstStyle>
            <a:lvl1pPr>
              <a:spcAft>
                <a:spcPts val="2400"/>
              </a:spcAft>
              <a:buNone/>
              <a:defRPr/>
            </a:lvl1pPr>
            <a:lvl2pPr>
              <a:spcAft>
                <a:spcPts val="2400"/>
              </a:spcAft>
              <a:buNone/>
              <a:defRPr/>
            </a:lvl2pPr>
            <a:lvl3pPr>
              <a:spcAft>
                <a:spcPts val="2400"/>
              </a:spcAft>
              <a:buNone/>
              <a:defRPr/>
            </a:lvl3pPr>
            <a:lvl4pPr>
              <a:spcAft>
                <a:spcPts val="2400"/>
              </a:spcAft>
              <a:buNone/>
              <a:defRPr/>
            </a:lvl4pPr>
            <a:lvl5pPr>
              <a:spcAft>
                <a:spcPts val="2400"/>
              </a:spcAft>
              <a:buNone/>
              <a:defRPr/>
            </a:lvl5pPr>
          </a:lstStyle>
          <a:p>
            <a:pPr lvl="0">
              <a:buNone/>
            </a:pPr>
            <a:r>
              <a:t>Текст в несколько строчек, может быть списком, например. Или описанием фичи 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E4F477C-307F-4E32-9E79-A227A9FD39F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965C501-1A8D-4524-ADB7-DE5D2AF652C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опрос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8CDAA1A-D1B8-4840-8B74-3D2E3469EE70}"/>
              </a:ext>
            </a:extLst>
          </p:cNvPr>
          <p:cNvSpPr>
            <a:spLocks noGrp="1"/>
          </p:cNvSpPr>
          <p:nvPr/>
        </p:nvSpPr>
        <p:spPr>
          <a:xfrm>
            <a:off x="4062413" y="2540000"/>
            <a:ext cx="16257586" cy="863600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90000" bIns="0" anchor="ctr"/>
          <a:lstStyle/>
          <a:p>
            <a:pPr algn="l">
              <a:lnSpc>
                <a:spcPct val="90000"/>
              </a:lnSpc>
              <a:buNone/>
            </a:pPr>
            <a:endParaRPr sz="3000">
              <a:ln w="0"/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D24B2-ED2D-47C5-90C1-3764A60F6B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8413" y="3612202"/>
            <a:ext cx="13716000" cy="1246495"/>
          </a:xfrm>
        </p:spPr>
        <p:txBody>
          <a:bodyPr vert="horz" wrap="square" tIns="0" rIns="0" anchor="t">
            <a:sp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Текст вопроса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вершающи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44CA3AD-4B91-4DBC-93BE-12E6A7ED66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4413" y="822631"/>
            <a:ext cx="10668000" cy="8039101"/>
          </a:xfrm>
        </p:spPr>
        <p:txBody>
          <a:bodyPr vert="horz" tIns="0" rIns="0" anchor="t">
            <a:noAutofit/>
          </a:bodyPr>
          <a:lstStyle>
            <a:lvl1pPr marL="0" marR="0" indent="0" algn="l" defTabSz="182861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Название презентации</a:t>
            </a:r>
          </a:p>
        </p:txBody>
      </p:sp>
      <p:pic>
        <p:nvPicPr>
          <p:cNvPr id="7" name="Рисунок 1"/>
          <p:cNvPicPr>
            <a:picLocks noChangeAspect="1"/>
          </p:cNvPicPr>
          <p:nvPr/>
        </p:nvPicPr>
        <p:blipFill>
          <a:blip r:embed="rId2"/>
          <a:srcRect t="7126" b="7126"/>
          <a:stretch/>
        </p:blipFill>
        <p:spPr>
          <a:xfrm>
            <a:off x="1014413" y="12414396"/>
            <a:ext cx="3539934" cy="28560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68205D-09B4-4C10-AE8D-0B3F9F198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483" y="888188"/>
            <a:ext cx="14676388" cy="2554323"/>
          </a:xfrm>
          <a:prstGeom prst="rect">
            <a:avLst/>
          </a:prstGeom>
        </p:spPr>
        <p:txBody>
          <a:bodyPr vert="horz" lIns="0" tIns="198000" rIns="0" bIns="0" anchor="t">
            <a:noAutofit/>
          </a:bodyPr>
          <a:lstStyle/>
          <a:p>
            <a:pPr>
              <a:buNone/>
            </a:pPr>
            <a:r>
              <a:t>Образец </a:t>
            </a:r>
            <a:br/>
            <a:r>
              <a:t>заголовка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12F2C09-F720-4C88-B85D-47A75BED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483" y="5080000"/>
            <a:ext cx="14676388" cy="660400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endParaRPr/>
          </a:p>
          <a:p>
            <a:pPr lvl="2">
              <a:buNone/>
            </a:pPr>
            <a:r>
              <a:t>Маркированный список</a:t>
            </a:r>
          </a:p>
          <a:p>
            <a:pPr lvl="2">
              <a:buNone/>
            </a:pPr>
            <a:endParaRPr/>
          </a:p>
          <a:p>
            <a:pPr lvl="3">
              <a:buNone/>
            </a:pPr>
            <a:r>
              <a:t>Нумерованный список</a:t>
            </a:r>
          </a:p>
          <a:p>
            <a:pPr lvl="3">
              <a:buNone/>
            </a:pPr>
            <a:endParaRPr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2129CFEC-4C0F-45D8-9C9B-684183DE0A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26483" y="12455723"/>
            <a:ext cx="2081593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8074D7-A5BF-4D09-88BE-C3E4F80648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350413" y="12455723"/>
            <a:ext cx="1016000" cy="307777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0" algn="r" defTabSz="1828595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D611259-17BC-4541-A43B-7A8D8EE432A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marL="0" algn="l" defTabSz="1828619">
        <a:lnSpc>
          <a:spcPct val="90000"/>
        </a:lnSpc>
        <a:spcBef>
          <a:spcPts val="0"/>
        </a:spcBef>
        <a:buNone/>
        <a:defRPr sz="9000" b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1828619">
        <a:lnSpc>
          <a:spcPct val="100000"/>
        </a:lnSpc>
        <a:spcBef>
          <a:spcPts val="0"/>
        </a:spcBef>
        <a:spcAft>
          <a:spcPts val="2400"/>
        </a:spcAft>
        <a:buClr>
          <a:schemeClr val="tx2"/>
        </a:buClr>
        <a:buFontTx/>
        <a:buNone/>
        <a:defRPr sz="5000">
          <a:solidFill>
            <a:schemeClr val="tx1"/>
          </a:solidFill>
          <a:latin typeface="+mn-lt"/>
          <a:ea typeface="+mn-lt"/>
          <a:cs typeface="+mn-lt"/>
        </a:defRPr>
      </a:lvl1pPr>
      <a:lvl2pPr marL="36" indent="0" algn="l" defTabSz="1907905">
        <a:lnSpc>
          <a:spcPct val="100000"/>
        </a:lnSpc>
        <a:spcBef>
          <a:spcPts val="0"/>
        </a:spcBef>
        <a:spcAft>
          <a:spcPts val="2400"/>
        </a:spcAft>
        <a:buClr>
          <a:schemeClr val="bg2"/>
        </a:buClr>
        <a:buSzPct val="120000"/>
        <a:buFont typeface="Arial Unicode MS"/>
        <a:buNone/>
        <a:defRPr sz="5000" b="1">
          <a:solidFill>
            <a:schemeClr val="tx1"/>
          </a:solidFill>
          <a:latin typeface="+mn-lt"/>
          <a:ea typeface="+mn-lt"/>
          <a:cs typeface="+mn-lt"/>
        </a:defRPr>
      </a:lvl2pPr>
      <a:lvl3pPr marL="900000" indent="-900000" algn="l" defTabSz="1828619">
        <a:lnSpc>
          <a:spcPct val="100000"/>
        </a:lnSpc>
        <a:spcBef>
          <a:spcPts val="0"/>
        </a:spcBef>
        <a:spcAft>
          <a:spcPts val="2400"/>
        </a:spcAft>
        <a:buClrTx/>
        <a:buSzPct val="100000"/>
        <a:buFont typeface="Arial"/>
        <a:buChar char="•"/>
        <a:defRPr sz="5000">
          <a:solidFill>
            <a:schemeClr val="tx1"/>
          </a:solidFill>
          <a:latin typeface="+mn-lt"/>
          <a:ea typeface="+mn-lt"/>
          <a:cs typeface="+mn-lt"/>
        </a:defRPr>
      </a:lvl3pPr>
      <a:lvl4pPr marL="900000" indent="-900000" algn="l" defTabSz="1828619">
        <a:lnSpc>
          <a:spcPct val="100000"/>
        </a:lnSpc>
        <a:spcBef>
          <a:spcPts val="0"/>
        </a:spcBef>
        <a:spcAft>
          <a:spcPts val="2400"/>
        </a:spcAft>
        <a:buClrTx/>
        <a:buFont typeface="+mj-lt"/>
        <a:buAutoNum type="arabicPeriod"/>
        <a:defRPr sz="50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1828619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Tx/>
        <a:buNone/>
        <a:defRPr sz="5000">
          <a:solidFill>
            <a:srgbClr val="E3E8E8"/>
          </a:solidFill>
          <a:latin typeface="+mn-lt"/>
          <a:ea typeface="+mn-lt"/>
          <a:cs typeface="+mn-lt"/>
        </a:defRPr>
      </a:lvl5pPr>
      <a:lvl6pPr marL="5028699" indent="-457155" algn="l" defTabSz="1828619">
        <a:lnSpc>
          <a:spcPct val="90000"/>
        </a:lnSpc>
        <a:spcBef>
          <a:spcPts val="1000"/>
        </a:spcBef>
        <a:buFont typeface="Arial"/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6pPr>
      <a:lvl7pPr marL="5943007" indent="-457155" algn="l" defTabSz="1828619">
        <a:lnSpc>
          <a:spcPct val="90000"/>
        </a:lnSpc>
        <a:spcBef>
          <a:spcPts val="1000"/>
        </a:spcBef>
        <a:buFont typeface="Arial"/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7pPr>
      <a:lvl8pPr marL="6857315" indent="-457155" algn="l" defTabSz="1828619">
        <a:lnSpc>
          <a:spcPct val="90000"/>
        </a:lnSpc>
        <a:spcBef>
          <a:spcPts val="1000"/>
        </a:spcBef>
        <a:buFont typeface="Arial"/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8pPr>
      <a:lvl9pPr marL="7771623" indent="-457155" algn="l" defTabSz="1828619">
        <a:lnSpc>
          <a:spcPct val="90000"/>
        </a:lnSpc>
        <a:spcBef>
          <a:spcPts val="1000"/>
        </a:spcBef>
        <a:buFont typeface="Arial"/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1pPr>
      <a:lvl2pPr marL="914308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2pPr>
      <a:lvl3pPr marL="1828619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3pPr>
      <a:lvl4pPr marL="2742927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4pPr>
      <a:lvl5pPr marL="3657235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5pPr>
      <a:lvl6pPr marL="4571543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6pPr>
      <a:lvl7pPr marL="5485852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7pPr>
      <a:lvl8pPr marL="6400160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8pPr>
      <a:lvl9pPr marL="7314467" algn="l" defTabSz="1828619">
        <a:buNone/>
        <a:defRPr sz="36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6857D08B-E173-4480-A3F6-C9659CF06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3524250"/>
            <a:ext cx="13811250" cy="6381750"/>
          </a:xfrm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10350" b="0" i="0">
                <a:solidFill>
                  <a:srgbClr val="FFFFFF"/>
                </a:solidFill>
                <a:latin typeface="Coil"/>
                <a:ea typeface="Coil"/>
                <a:cs typeface="Coil"/>
              </a:defRPr>
            </a:pPr>
            <a:r>
              <a:rPr sz="10350" b="0" i="0">
                <a:solidFill>
                  <a:srgbClr val="FFFFFF"/>
                </a:solidFill>
                <a:latin typeface="Coil"/>
                <a:ea typeface="Coil"/>
                <a:cs typeface="Coil"/>
              </a:rPr>
              <a:t>Многопоточность</a:t>
            </a:r>
            <a:endParaRPr/>
          </a:p>
          <a:p>
            <a:pPr algn="l">
              <a:lnSpc>
                <a:spcPct val="100000"/>
              </a:lnSpc>
              <a:buNone/>
              <a:defRPr sz="10350" b="0" i="0">
                <a:solidFill>
                  <a:srgbClr val="FFFFFF"/>
                </a:solidFill>
                <a:latin typeface="Coil"/>
                <a:ea typeface="Coil"/>
                <a:cs typeface="Coil"/>
              </a:defRPr>
            </a:pPr>
            <a:r>
              <a:rPr sz="10350" b="0" i="0">
                <a:solidFill>
                  <a:srgbClr val="FFFFFF"/>
                </a:solidFill>
                <a:latin typeface="Coil"/>
                <a:ea typeface="Coil"/>
                <a:cs typeface="Coil"/>
              </a:rPr>
              <a:t>в операционных</a:t>
            </a:r>
            <a:endParaRPr/>
          </a:p>
          <a:p>
            <a:pPr algn="l">
              <a:lnSpc>
                <a:spcPct val="100000"/>
              </a:lnSpc>
              <a:buNone/>
              <a:defRPr sz="10350" b="0" i="0">
                <a:solidFill>
                  <a:srgbClr val="FFFFFF"/>
                </a:solidFill>
                <a:latin typeface="Coil"/>
                <a:ea typeface="Coil"/>
                <a:cs typeface="Coil"/>
              </a:defRPr>
            </a:pPr>
            <a:r>
              <a:rPr sz="10350" b="0" i="0">
                <a:solidFill>
                  <a:srgbClr val="FFFFFF"/>
                </a:solidFill>
                <a:latin typeface="Coil"/>
                <a:ea typeface="Coil"/>
                <a:cs typeface="Coil"/>
              </a:rPr>
              <a:t>системах</a:t>
            </a:r>
            <a:endParaRPr/>
          </a:p>
        </p:txBody>
      </p:sp>
      <p:sp>
        <p:nvSpPr>
          <p:cNvPr id="2" name="Текст 14">
            <a:extLst>
              <a:ext uri="{FF2B5EF4-FFF2-40B4-BE49-F238E27FC236}">
                <a16:creationId xmlns:a16="http://schemas.microsoft.com/office/drawing/2014/main" id="{D209959B-E308-450D-9AB8-CB5FC921004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9650" y="10953750"/>
            <a:ext cx="12382500" cy="1428750"/>
          </a:xfrm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500" b="0" i="0">
                <a:solidFill>
                  <a:srgbClr val="E1CFFF"/>
                </a:solidFill>
                <a:latin typeface="Coil"/>
                <a:ea typeface="Coil"/>
                <a:cs typeface="Coil"/>
              </a:defRPr>
            </a:pPr>
            <a:r>
              <a:rPr sz="4500" b="0" i="0">
                <a:solidFill>
                  <a:srgbClr val="E1CFFF"/>
                </a:solidFill>
                <a:latin typeface="Coil"/>
                <a:ea typeface="Coil"/>
                <a:cs typeface="Coil"/>
              </a:rPr>
              <a:t>Подготовка к ЛР 3</a:t>
            </a:r>
            <a:endParaRPr/>
          </a:p>
        </p:txBody>
      </p:sp>
      <p:sp>
        <p:nvSpPr>
          <p:cNvPr id="3" name="Текст 16">
            <a:extLst>
              <a:ext uri="{FF2B5EF4-FFF2-40B4-BE49-F238E27FC236}">
                <a16:creationId xmlns:a16="http://schemas.microsoft.com/office/drawing/2014/main" id="{F4D043A6-0572-4042-ABE9-C04E497AF6A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14413" y="12341827"/>
            <a:ext cx="7243762" cy="508000"/>
          </a:xfrm>
        </p:spPr>
        <p:txBody>
          <a:bodyPr/>
          <a:lstStyle/>
          <a:p>
            <a:pPr>
              <a:buNone/>
            </a:pPr>
            <a:endParaRPr/>
          </a:p>
        </p:txBody>
      </p:sp>
      <p:pic>
        <p:nvPicPr>
          <p:cNvPr id="10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33212" y="1956882"/>
            <a:ext cx="12115767" cy="103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984EC4D7-BCE7-4F9F-9459-5526411EB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Что требуется в ЛР 3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E7B26AED-BABE-43EA-8CB7-1A294198AE99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Программа на Си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Обработка данных несколькими потоками.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Стандартные средства Windows или Unix.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Лимит потоков задаётся ключом запуска.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8ECFE0ED-2FFD-4CCF-90C8-A0D0B8BF5C0B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Демонстрация и отчёт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Число потоков видно средствами ОС.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Результат вычислений проверен.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Есть зависимость ускорения и эффективности от данных и числа потоков.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0396A254-D33E-483B-B17A-540BA0849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Процесс и поток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28F3CDA0-2FCC-459E-9447-38744FE68E52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Процесс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Адресное пространство и ресурсы программы.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Потоки одного процесса разделяют код, глобальные данные и кучу.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Открытые файлы также общие.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8786E8F3-609F-4FD2-B7B5-37D3D576FB91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Поток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Собственные регистры, стек и позиция выполнения.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Планировщик выделяет ему время CPU.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Общие данные требуют согласованного доступа.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25D99A90-D0CC-467D-90E2-6DF419ECE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Два процесса или два потока?</a:t>
            </a:r>
            <a:endParaRPr sz="10000"/>
          </a:p>
        </p:txBody>
      </p:sp>
      <p:sp>
        <p:nvSpPr>
          <p:cNvPr id="3" name="link-explanation">
            <a:extLst>
              <a:ext uri="{FF2B5EF4-FFF2-40B4-BE49-F238E27FC236}">
                <a16:creationId xmlns:a16="http://schemas.microsoft.com/office/drawing/2014/main" id="{15F303B4-8F81-4888-AA94-41A140B78283}"/>
              </a:ext>
            </a:extLst>
          </p:cNvPr>
          <p:cNvSpPr>
            <a:spLocks noGrp="1"/>
          </p:cNvSpPr>
          <p:nvPr/>
        </p:nvSpPr>
        <p:spPr>
          <a:xfrm>
            <a:off x="15240000" y="2667000"/>
            <a:ext cx="80010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Комната — адресное пространство.</a:t>
            </a: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Куб — общие данные комнаты.</a:t>
            </a: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 процессов разные кубы. Запись в память A не меняет память B.</a:t>
            </a: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 потоков куб общий. Для обмена изменениями нужна синхронизация.</a:t>
            </a: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50" y="2667000"/>
            <a:ext cx="13430250" cy="8953500"/>
          </a:xfrm>
          <a:prstGeom prst="roundRect">
            <a:avLst>
              <a:gd name="adj" fmla="val 4787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DCAF31-F625-4F07-BF6F-A1FA62BFB376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628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Два процесса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992C2-73E9-4324-B861-76DD50167D49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6048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Два потока одного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210000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505BDA6F-7664-4604-8B7A-9C8D04E7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Одна переменная, разная память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2A203864-65F6-4F77-A49E-40839F10AD3A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Два процесса A и B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 каждого своя переменная x = 10.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 выполняет x = 11.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 B по-прежнему x = 10.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Для передачи значения нужен IPC: например, канал или общая память.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01EEE456-3566-453B-AB01-4E999CCE2B34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Два потока A и B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Одна общая переменная x = 10.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 меняет x на 11 под mutex.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B затем захватывает тот же mutex и читает 11.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Данные общие, порядок доступа согласован.</a:t>
            </a:r>
            <a:endParaRPr/>
          </a:p>
        </p:txBody>
      </p:sp>
      <p:pic>
        <p:nvPicPr>
          <p:cNvPr id="8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571CB4DC-CE88-405B-956E-A48DF6234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Конкурентность и параллелизм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7D3CA6D0-2271-412D-A466-30EF3158AC5F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Конкурентное выполнение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На одном ядре потоки чередуются.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Готовый поток ждёт процессор.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Заблокированный поток ждёт событие или ресурс.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44386579-B44C-4CD0-8F62-D9BA8F9015B9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Параллельное выполнение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Несколько ядер могут исполнять потоки одновременно.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Больше потоков не гарантирует ускорение.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Переключения и доступ к памяти имеют стоимость.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8A2782A1-7332-4C9E-9A14-C33ED0B4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Системные вызовы и API потоков</a:t>
            </a:r>
            <a:endParaRPr sz="10000"/>
          </a:p>
        </p:txBody>
      </p:sp>
      <p:sp>
        <p:nvSpPr>
          <p:cNvPr id="2" name="cmake-code">
            <a:extLst>
              <a:ext uri="{FF2B5EF4-FFF2-40B4-BE49-F238E27FC236}">
                <a16:creationId xmlns:a16="http://schemas.microsoft.com/office/drawing/2014/main" id="{B20A6668-F9F0-4DE8-946D-15859B21F208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#include &lt;pthread.h&gt;</a:t>
            </a:r>
            <a:endParaRPr/>
          </a:p>
          <a:p>
            <a:pPr algn="l">
              <a:lnSpc>
                <a:spcPct val="100000"/>
              </a:lnSpc>
              <a:buNone/>
              <a:defRPr sz="23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pthread_create(...)</a:t>
            </a:r>
            <a:endParaRPr sz="23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pthread_join(...)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pthread_mutex_lock(...)</a:t>
            </a:r>
            <a:endParaRPr/>
          </a:p>
          <a:p>
            <a:pPr algn="l">
              <a:lnSpc>
                <a:spcPct val="100000"/>
              </a:lnSpc>
              <a:buNone/>
              <a:defRPr sz="23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Сборка GCC / Clang в Linux: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cc -std=c11 -O2 -pthread ...</a:t>
            </a:r>
            <a:endParaRPr sz="23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</p:txBody>
      </p:sp>
      <p:sp>
        <p:nvSpPr>
          <p:cNvPr id="3" name="cmake-target-explanation">
            <a:extLst>
              <a:ext uri="{FF2B5EF4-FFF2-40B4-BE49-F238E27FC236}">
                <a16:creationId xmlns:a16="http://schemas.microsoft.com/office/drawing/2014/main" id="{2F60565B-4E5A-452D-A93A-D1DA823E788F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Уровень API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pthread_* — функции POSIX.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Они используют механизмы ОС.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Linux clone / clone3 и futex обычно скрыты внутри библиотеки.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8000" y="209550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36CE5B27-1711-4C2D-ABCD-BD35E2FAD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Создание потока: pthread_create</a:t>
            </a:r>
            <a:endParaRPr sz="10000"/>
          </a:p>
        </p:txBody>
      </p:sp>
      <p:sp>
        <p:nvSpPr>
          <p:cNvPr id="2" name="makefile-code">
            <a:extLst>
              <a:ext uri="{FF2B5EF4-FFF2-40B4-BE49-F238E27FC236}">
                <a16:creationId xmlns:a16="http://schemas.microsoft.com/office/drawing/2014/main" id="{00EFA276-C86C-4698-97B5-663D59AF3044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int pthread_create(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pthread_t *thread,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const pthread_attr_t *attr,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void *(*start)(void *),</a:t>
            </a:r>
            <a:endParaRPr sz="22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void *arg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);</a:t>
            </a:r>
            <a:endParaRPr/>
          </a:p>
          <a:p>
            <a:pPr>
              <a:buNone/>
            </a:pPr>
            <a:endParaRPr sz="22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rc = pthread_create(&amp;tid, NULL,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                worker, &amp;args);</a:t>
            </a:r>
            <a:endParaRPr/>
          </a:p>
        </p:txBody>
      </p:sp>
      <p:sp>
        <p:nvSpPr>
          <p:cNvPr id="3" name="makefile-story">
            <a:extLst>
              <a:ext uri="{FF2B5EF4-FFF2-40B4-BE49-F238E27FC236}">
                <a16:creationId xmlns:a16="http://schemas.microsoft.com/office/drawing/2014/main" id="{3BDF11CD-B5CC-4770-9669-C235BAA8A62C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Что передаём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&amp;tid — место для ID.</a:t>
            </a: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NULL — обычные атрибуты.</a:t>
            </a: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worker — функция потока.</a:t>
            </a: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&amp;args — её аргумент.</a:t>
            </a: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50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Успех: rc == 0.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335625" y="2095500"/>
            <a:ext cx="3143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AE8A835E-7304-4D11-9BBA-807C18C80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Аргументы и ошибки pthreads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E479BE58-B3F4-4F1F-AFA1-BDC7C395EF77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Время жизни аргументов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Данные существуют до завершения потока.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 каждого потока свой неизменяемый набор параметров.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Адрес общей переменной цикла часто приводит к гонке.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F096168E-EF40-4840-B37D-E26772896397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Обработка ошибок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pthread_create возвращает код ошибки напрямую.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Диагностика: strerror(rc).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Если часть запусков не удалась, нужно дождаться уже созданных потоков.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B86E65AE-365A-473B-81EE-6D4471EED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Завершение: pthread_join</a:t>
            </a:r>
            <a:endParaRPr sz="10000"/>
          </a:p>
        </p:txBody>
      </p:sp>
      <p:sp>
        <p:nvSpPr>
          <p:cNvPr id="2" name="targets-code">
            <a:extLst>
              <a:ext uri="{FF2B5EF4-FFF2-40B4-BE49-F238E27FC236}">
                <a16:creationId xmlns:a16="http://schemas.microsoft.com/office/drawing/2014/main" id="{B6AB8192-9EAE-4BDE-B39D-17CC661E2B79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int pthread_join(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pthread_t thread, void **retval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);</a:t>
            </a:r>
            <a:endParaRPr/>
          </a:p>
          <a:p>
            <a:pPr>
              <a:buNone/>
            </a:pP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rc = pthread_join(tid, &amp;result);</a:t>
            </a:r>
            <a:endParaRPr/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функции потока: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return result;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/* или pthread_exit(result); */</a:t>
            </a:r>
            <a:endParaRPr/>
          </a:p>
        </p:txBody>
      </p:sp>
      <p:sp>
        <p:nvSpPr>
          <p:cNvPr id="3" name="targets-explanation">
            <a:extLst>
              <a:ext uri="{FF2B5EF4-FFF2-40B4-BE49-F238E27FC236}">
                <a16:creationId xmlns:a16="http://schemas.microsoft.com/office/drawing/2014/main" id="{6E2149D5-437A-4D27-ADB8-0CDEE4AC926D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Ожидание</a:t>
            </a:r>
            <a:endParaRPr/>
          </a:p>
          <a:p>
            <a:pPr>
              <a:buNone/>
            </a:pP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join ждёт завершения потока.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После успеха можно читать его результат.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Каждый joinable-поток нужно присоединить один раз.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92750" y="219075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8ECFCB39-5A3D-4FB7-81F2-052264F75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Ограничение числа потоков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266077B2-07ED-4D28-89EB-CEB390A250B2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Ключ --threads P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Значение P проверяется до запуска.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POSIX: getopt и strtol для разбора аргументов.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Число одновременно существующих потоков ограничивает сама программа.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73D209A3-62B4-42C1-93B9-F733F3DD45D8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Учёт главного потока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main тоже является потоком.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Если P — общий лимит, дополнительно создаётся не более P − 1 потоков.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При P = 1 вычисления выполняет main.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D2D76058-5035-4C11-8C31-6650C603C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Гонка данных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A893BF23-7099-4EA3-9F63-C1F94B71FCBD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Общий счётчик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x++ включает чтение и запись.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Два потока могут прочитать одно старое значение.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Один из результатов обновления теряется.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28C74DC4-4EEE-4841-B422-FD87043D2BEF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Правила доступа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Си гонка обычных чтений и записей даёт неопределённое поведение.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Нужны mutex, атомарные операции или разделение данных.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volatile и sleep не обеспечивают синхронизацию.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D7345728-9B4B-48A5-9D20-2486A688F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Без блокировки: потерянное обновление</a:t>
            </a:r>
            <a:endParaRPr sz="10000"/>
          </a:p>
        </p:txBody>
      </p:sp>
      <p:graphicFrame>
        <p:nvGraphicFramePr>
          <p:cNvPr id="6" name="Table 5"/>
          <p:cNvGraphicFramePr/>
          <p:nvPr/>
        </p:nvGraphicFramePr>
        <p:xfrm>
          <a:off x="1009650" y="2714625"/>
          <a:ext cx="22231350" cy="68580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1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Шаг</a:t>
                      </a:r>
                    </a:p>
                  </a:txBody>
                  <a:tcPr anchor="ctr">
                    <a:solidFill>
                      <a:srgbClr val="D4B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1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Поток A</a:t>
                      </a:r>
                    </a:p>
                  </a:txBody>
                  <a:tcPr anchor="ctr">
                    <a:solidFill>
                      <a:srgbClr val="D4B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1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Поток B</a:t>
                      </a:r>
                    </a:p>
                  </a:txBody>
                  <a:tcPr anchor="ctr">
                    <a:solidFill>
                      <a:srgbClr val="D4B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1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Общее x</a:t>
                      </a:r>
                    </a:p>
                  </a:txBody>
                  <a:tcPr anchor="ctr">
                    <a:solidFill>
                      <a:srgbClr val="D4B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1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Читает x = 10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—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10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2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—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Читает x = 10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10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3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Записывает 11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—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11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4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—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Записывает 11</a:t>
                      </a:r>
                    </a:p>
                  </a:txBody>
                  <a:tcPr anchor="ctr">
                    <a:solidFill>
                      <a:srgbClr val="F0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4050" b="0" i="0">
                          <a:solidFill>
                            <a:srgbClr val="161318"/>
                          </a:solidFill>
                          <a:latin typeface="Coil"/>
                          <a:ea typeface="Coil"/>
                          <a:cs typeface="Coil"/>
                        </a:rPr>
                        <a:t>11</a:t>
                      </a:r>
                    </a:p>
                  </a:txBody>
                  <a:tcPr anchor="ctr">
                    <a:solidFill>
                      <a:srgbClr val="F8C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C2A43B2-0BCD-45A2-9630-BA508AC658B6}"/>
              </a:ext>
            </a:extLst>
          </p:cNvPr>
          <p:cNvSpPr>
            <a:spLocks noGrp="1"/>
          </p:cNvSpPr>
          <p:nvPr/>
        </p:nvSpPr>
        <p:spPr>
          <a:xfrm>
            <a:off x="1009650" y="10001250"/>
            <a:ext cx="22231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350" b="0" i="0">
                <a:solidFill>
                  <a:srgbClr val="E1CFFF"/>
                </a:solidFill>
                <a:latin typeface="Coil"/>
                <a:ea typeface="Coil"/>
                <a:cs typeface="Coil"/>
              </a:defRPr>
            </a:pPr>
            <a:r>
              <a:rPr sz="4350" b="0" i="0">
                <a:solidFill>
                  <a:srgbClr val="E1CFFF"/>
                </a:solidFill>
                <a:latin typeface="Coil"/>
                <a:ea typeface="Coil"/>
                <a:cs typeface="Coil"/>
              </a:rPr>
              <a:t>Ожидали 12, в этой модели получили 11.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14384-EF0F-4EFB-8D99-1C29B195D7D5}"/>
              </a:ext>
            </a:extLst>
          </p:cNvPr>
          <p:cNvSpPr>
            <a:spLocks noGrp="1"/>
          </p:cNvSpPr>
          <p:nvPr/>
        </p:nvSpPr>
        <p:spPr>
          <a:xfrm>
            <a:off x="1009650" y="11049000"/>
            <a:ext cx="22231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0" i="0">
                <a:solidFill>
                  <a:srgbClr val="FFFFFF"/>
                </a:solidFill>
                <a:latin typeface="Coil"/>
                <a:ea typeface="Coil"/>
                <a:cs typeface="Coil"/>
              </a:defRPr>
            </a:pPr>
            <a:r>
              <a:rPr sz="3600" b="0" i="0">
                <a:solidFill>
                  <a:srgbClr val="FFFFFF"/>
                </a:solidFill>
                <a:latin typeface="Coil"/>
                <a:ea typeface="Coil"/>
                <a:cs typeface="Coil"/>
              </a:rPr>
              <a:t>В Си гонка данных даёт неопределённое поведение.</a:t>
            </a:r>
          </a:p>
        </p:txBody>
      </p:sp>
    </p:spTree>
    <p:extLst>
      <p:ext uri="{BB962C8B-B14F-4D97-AF65-F5344CB8AC3E}">
        <p14:creationId xmlns:p14="http://schemas.microsoft.com/office/powerpoint/2010/main" val="210000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9DCB4564-7EE2-41B5-9147-69468CECC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Мьютекс: взаимное исключение</a:t>
            </a:r>
            <a:endParaRPr sz="10000"/>
          </a:p>
        </p:txBody>
      </p:sp>
      <p:sp>
        <p:nvSpPr>
          <p:cNvPr id="2" name="link-code">
            <a:extLst>
              <a:ext uri="{FF2B5EF4-FFF2-40B4-BE49-F238E27FC236}">
                <a16:creationId xmlns:a16="http://schemas.microsoft.com/office/drawing/2014/main" id="{0521896A-E0FC-491F-8488-B240FD733F0C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pthread_mutex_t m =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PTHREAD_MUTEX_INITIALIZER;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pthread_mutex_lock(&amp;m);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/* доступ к общим данным */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pthread_mutex_unlock(&amp;m);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pthread_mutex_destroy(&amp;m);</a:t>
            </a:r>
            <a:endParaRPr/>
          </a:p>
        </p:txBody>
      </p:sp>
      <p:sp>
        <p:nvSpPr>
          <p:cNvPr id="3" name="link-explanation">
            <a:extLst>
              <a:ext uri="{FF2B5EF4-FFF2-40B4-BE49-F238E27FC236}">
                <a16:creationId xmlns:a16="http://schemas.microsoft.com/office/drawing/2014/main" id="{FC9F4C55-B280-4191-BD81-4979A700CE42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Общий mutex</a:t>
            </a:r>
            <a:endParaRPr/>
          </a:p>
          <a:p>
            <a:pPr>
              <a:buNone/>
            </a:pP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Все конфликтующие обращения используют один mutex.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Критическая секция короткая.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Destroy — после всех join.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68875" y="1952625"/>
            <a:ext cx="40957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983869F4-F000-473F-A20E-B0361B6C9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Мьютекс: один ресурс, два потока</a:t>
            </a:r>
            <a:endParaRPr sz="10000"/>
          </a:p>
        </p:txBody>
      </p:sp>
      <p:sp>
        <p:nvSpPr>
          <p:cNvPr id="3" name="link-explanation">
            <a:extLst>
              <a:ext uri="{FF2B5EF4-FFF2-40B4-BE49-F238E27FC236}">
                <a16:creationId xmlns:a16="http://schemas.microsoft.com/office/drawing/2014/main" id="{099A04E9-3246-4AB0-A1E7-4211C0070761}"/>
              </a:ext>
            </a:extLst>
          </p:cNvPr>
          <p:cNvSpPr>
            <a:spLocks noGrp="1"/>
          </p:cNvSpPr>
          <p:nvPr/>
        </p:nvSpPr>
        <p:spPr>
          <a:xfrm>
            <a:off x="15240000" y="2667000"/>
            <a:ext cx="80010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 захватывает mutex.</a:t>
            </a: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B блокируется в lock.</a:t>
            </a: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 выполняет unlock.</a:t>
            </a: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B захватывает mutex и продолжает работу.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Вся операция x++ должна быть внутри критической секции.</a:t>
            </a:r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50" y="2667000"/>
            <a:ext cx="13430250" cy="8953500"/>
          </a:xfrm>
          <a:prstGeom prst="roundRect">
            <a:avLst>
              <a:gd name="adj" fmla="val 4787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D616BF-38DD-4DDC-9755-43DF2504B83E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628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1. A работает, B ждёт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5B8B1-D652-483D-B01B-0208D2A5A0FD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6048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2. A освободил, B работает</a:t>
            </a:r>
          </a:p>
        </p:txBody>
      </p:sp>
    </p:spTree>
    <p:extLst>
      <p:ext uri="{BB962C8B-B14F-4D97-AF65-F5344CB8AC3E}">
        <p14:creationId xmlns:p14="http://schemas.microsoft.com/office/powerpoint/2010/main" val="210000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3138855C-109A-4083-ABF4-0F5601FD2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Условная переменная: ожидание</a:t>
            </a:r>
            <a:endParaRPr sz="10000"/>
          </a:p>
        </p:txBody>
      </p:sp>
      <p:sp>
        <p:nvSpPr>
          <p:cNvPr id="2" name="include-code">
            <a:extLst>
              <a:ext uri="{FF2B5EF4-FFF2-40B4-BE49-F238E27FC236}">
                <a16:creationId xmlns:a16="http://schemas.microsoft.com/office/drawing/2014/main" id="{5F5C8908-B438-48E9-8197-576BCAF738C7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pthread_cond_t cv = PTHREAD_COND_INITIALIZER;</a:t>
            </a:r>
            <a:endParaRPr/>
          </a:p>
          <a:p>
            <a:pPr algn="l">
              <a:lnSpc>
                <a:spcPct val="100000"/>
              </a:lnSpc>
              <a:buNone/>
              <a:defRPr sz="255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pthread_mutex_lock(&amp;m);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while (!ready)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pthread_cond_wait(&amp;cv, &amp;m);</a:t>
            </a:r>
            <a:endParaRPr sz="255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/* условие ready выполнено */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pthread_mutex_unlock(&amp;m);</a:t>
            </a:r>
            <a:endParaRPr/>
          </a:p>
          <a:p>
            <a:pPr algn="l">
              <a:lnSpc>
                <a:spcPct val="100000"/>
              </a:lnSpc>
              <a:buNone/>
              <a:defRPr sz="255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Уведомление из другого потока: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pthread_cond_signal(&amp;cv);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/* или pthread_cond_broadcast(&amp;cv); */</a:t>
            </a:r>
            <a:endParaRPr/>
          </a:p>
        </p:txBody>
      </p:sp>
      <p:sp>
        <p:nvSpPr>
          <p:cNvPr id="3" name="include-scopes">
            <a:extLst>
              <a:ext uri="{FF2B5EF4-FFF2-40B4-BE49-F238E27FC236}">
                <a16:creationId xmlns:a16="http://schemas.microsoft.com/office/drawing/2014/main" id="{4BF49AFB-2947-4C7C-8ADE-02A3786699FB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Всегда с условием</a:t>
            </a:r>
            <a:endParaRPr/>
          </a:p>
          <a:p>
            <a:pPr>
              <a:buNone/>
            </a:pPr>
            <a:endParaRPr sz="255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wait отпускает mutex и ждёт.</a:t>
            </a:r>
            <a:endParaRPr/>
          </a:p>
          <a:p>
            <a:pPr>
              <a:buNone/>
            </a:pPr>
            <a:endParaRPr sz="255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Перед возвратом снова захватывает mutex.</a:t>
            </a:r>
            <a:endParaRPr/>
          </a:p>
          <a:p>
            <a:pPr>
              <a:buNone/>
            </a:pPr>
            <a:endParaRPr sz="255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После пробуждения условие проверяется в while.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54625" y="20955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44E28CBA-F21F-4BBC-9550-1A0CBE590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Барьер: завершение этапа</a:t>
            </a:r>
            <a:endParaRPr sz="10000"/>
          </a:p>
        </p:txBody>
      </p:sp>
      <p:sp>
        <p:nvSpPr>
          <p:cNvPr id="2" name="targets-code">
            <a:extLst>
              <a:ext uri="{FF2B5EF4-FFF2-40B4-BE49-F238E27FC236}">
                <a16:creationId xmlns:a16="http://schemas.microsoft.com/office/drawing/2014/main" id="{A895B5B3-B6EC-4B7F-BC15-5F5B675FA714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pthread_barrier_init(&amp;bar, NULL, p);</a:t>
            </a:r>
            <a:endParaRPr/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rc = pthread_barrier_wait(&amp;bar);</a:t>
            </a:r>
            <a:endParaRPr/>
          </a:p>
          <a:p>
            <a:pPr>
              <a:buNone/>
            </a:pP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pthread_barrier_destroy(&amp;bar);</a:t>
            </a:r>
            <a:endParaRPr/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Успешный wait возвращает 0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или PTHREAD_BARRIER_SERIAL_THREAD.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</p:txBody>
      </p:sp>
      <p:sp>
        <p:nvSpPr>
          <p:cNvPr id="3" name="targets-explanation">
            <a:extLst>
              <a:ext uri="{FF2B5EF4-FFF2-40B4-BE49-F238E27FC236}">
                <a16:creationId xmlns:a16="http://schemas.microsoft.com/office/drawing/2014/main" id="{CE3C3F24-45A5-4151-9004-4B0BCFF45894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Граница этапов</a:t>
            </a:r>
            <a:endParaRPr/>
          </a:p>
          <a:p>
            <a:pPr>
              <a:buNone/>
            </a:pP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Все p участников должны дойти до барьера.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После этого начинается следующий этап.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Полезно для итерационных алгоритмов.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92750" y="219075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21458958-FB09-4376-AE28-F01A6DE7E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Семафор: счётчик разрешений</a:t>
            </a:r>
            <a:endParaRPr sz="10000"/>
          </a:p>
        </p:txBody>
      </p:sp>
      <p:sp>
        <p:nvSpPr>
          <p:cNvPr id="2" name="makefile-code">
            <a:extLst>
              <a:ext uri="{FF2B5EF4-FFF2-40B4-BE49-F238E27FC236}">
                <a16:creationId xmlns:a16="http://schemas.microsoft.com/office/drawing/2014/main" id="{03B9C714-3D2A-4FCE-9713-E0857543E812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#include &lt;semaphore.h&gt;</a:t>
            </a:r>
            <a:endParaRPr/>
          </a:p>
          <a:p>
            <a:pPr algn="l">
              <a:lnSpc>
                <a:spcPct val="100000"/>
              </a:lnSpc>
              <a:buNone/>
              <a:defRPr sz="220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sem_init(&amp;sem, 0, limit);</a:t>
            </a:r>
            <a:endParaRPr/>
          </a:p>
          <a:p>
            <a:pPr>
              <a:buNone/>
            </a:pPr>
            <a:endParaRPr sz="22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sem_wait(&amp;sem);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/* использование ресурса */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sem_post(&amp;sem);</a:t>
            </a:r>
            <a:endParaRPr sz="22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20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sem_destroy(&amp;sem);</a:t>
            </a:r>
            <a:endParaRPr/>
          </a:p>
        </p:txBody>
      </p:sp>
      <p:sp>
        <p:nvSpPr>
          <p:cNvPr id="3" name="makefile-story">
            <a:extLst>
              <a:ext uri="{FF2B5EF4-FFF2-40B4-BE49-F238E27FC236}">
                <a16:creationId xmlns:a16="http://schemas.microsoft.com/office/drawing/2014/main" id="{25D11359-87BC-4764-B5DC-EFCC753BA506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Несколько участников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wait получает разрешение.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post возвращает разрешение.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При нулевом счётчике wait блокирует поток.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335625" y="2095500"/>
            <a:ext cx="3143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781F6EA7-1CA0-4FDE-9F96-05D3B6B6D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Взаимоблокировка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27A4B2FC-E97B-4988-B26F-DFBFFF289D15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Циклическое ожидание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Поток A удерживает m1 и ждёт m2.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Поток B удерживает m2 и ждёт m1.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Продолжить не может ни один.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39296F6C-F708-40EB-B0A5-F8A4390FA02B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Предотвращение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Единый порядок захвата: сначала m1, затем m2.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Без join под mutex, который нужен завершаемому потоку.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Каждому lock соответствует unlock.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9530A395-3B13-4F16-879E-700D57936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Взаимоблокировка: оба ждут</a:t>
            </a:r>
            <a:endParaRPr sz="10000"/>
          </a:p>
        </p:txBody>
      </p:sp>
      <p:sp>
        <p:nvSpPr>
          <p:cNvPr id="3" name="link-explanation">
            <a:extLst>
              <a:ext uri="{FF2B5EF4-FFF2-40B4-BE49-F238E27FC236}">
                <a16:creationId xmlns:a16="http://schemas.microsoft.com/office/drawing/2014/main" id="{6324BA86-6927-426C-B9DC-E283DDF023AF}"/>
              </a:ext>
            </a:extLst>
          </p:cNvPr>
          <p:cNvSpPr>
            <a:spLocks noGrp="1"/>
          </p:cNvSpPr>
          <p:nvPr/>
        </p:nvSpPr>
        <p:spPr>
          <a:xfrm>
            <a:off x="15240000" y="2667000"/>
            <a:ext cx="80010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A: держит m1, ждёт m2.</a:t>
            </a: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B: держит m2, ждёт m1.</a:t>
            </a: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Оба застряли во втором lock и не дойдут до unlock.</a:t>
            </a: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9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9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Единый порядок захвата: сначала m1, затем m2. Так цикл не возникает.</a:t>
            </a: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50" y="2667000"/>
            <a:ext cx="13430250" cy="8953500"/>
          </a:xfrm>
          <a:prstGeom prst="roundRect">
            <a:avLst>
              <a:gd name="adj" fmla="val 4787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68D35B-C17A-41A4-92DD-1D968F770C90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628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A удерживает m1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BC5CB2-5C8F-449B-B18B-B01DEC9D0C76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6048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30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B удерживает m2</a:t>
            </a:r>
          </a:p>
        </p:txBody>
      </p:sp>
    </p:spTree>
    <p:extLst>
      <p:ext uri="{BB962C8B-B14F-4D97-AF65-F5344CB8AC3E}">
        <p14:creationId xmlns:p14="http://schemas.microsoft.com/office/powerpoint/2010/main" val="2100000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51C5A7F2-9229-4820-A780-56409EF0B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Windows: управление потоками</a:t>
            </a:r>
            <a:endParaRPr sz="10000"/>
          </a:p>
        </p:txBody>
      </p:sp>
      <p:sp>
        <p:nvSpPr>
          <p:cNvPr id="2" name="cmake-code">
            <a:extLst>
              <a:ext uri="{FF2B5EF4-FFF2-40B4-BE49-F238E27FC236}">
                <a16:creationId xmlns:a16="http://schemas.microsoft.com/office/drawing/2014/main" id="{0C6EEC94-2839-4225-8D1C-9AB435AE77E5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#include &lt;windows.h&gt;</a:t>
            </a:r>
            <a:endParaRPr/>
          </a:p>
          <a:p>
            <a:pPr algn="l">
              <a:lnSpc>
                <a:spcPct val="100000"/>
              </a:lnSpc>
              <a:buNone/>
              <a:defRPr sz="23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HANDLE h = CreateThread(</a:t>
            </a:r>
            <a:endParaRPr sz="23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NULL, 0, worker, arg, 0, &amp;tid);</a:t>
            </a:r>
            <a:endParaRPr/>
          </a:p>
          <a:p>
            <a:pPr algn="l">
              <a:lnSpc>
                <a:spcPct val="100000"/>
              </a:lnSpc>
              <a:buNone/>
              <a:defRPr sz="23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WaitForSingleObject(h, INFINITE);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CloseHandle(h);</a:t>
            </a:r>
            <a:endParaRPr/>
          </a:p>
          <a:p>
            <a:pPr>
              <a:buNone/>
            </a:pPr>
            <a:endParaRPr sz="23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DWORD WINAPI worker(LPVOID arg);</a:t>
            </a:r>
            <a:endParaRPr/>
          </a:p>
        </p:txBody>
      </p:sp>
      <p:sp>
        <p:nvSpPr>
          <p:cNvPr id="3" name="cmake-target-explanation">
            <a:extLst>
              <a:ext uri="{FF2B5EF4-FFF2-40B4-BE49-F238E27FC236}">
                <a16:creationId xmlns:a16="http://schemas.microsoft.com/office/drawing/2014/main" id="{3F97D235-DDAF-4C46-B8FC-817587E0782A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Жизненный цикл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CreateThread даёт HANDLE.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Wait ждёт завершения.</a:t>
            </a:r>
            <a:endParaRPr/>
          </a:p>
          <a:p>
            <a:pPr>
              <a:buNone/>
            </a:pPr>
            <a:endParaRPr sz="250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CloseHandle освобождает дескриптор и не завершает поток.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8000" y="209550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AF2A5CF6-8F8A-48C3-A670-E305115BA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Windows: синхронизация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6CE3AAAD-1754-4CF5-B4A6-3A8017AB6319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Критическая секция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InitializeCriticalSection(&amp;cs)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EnterCriticalSection(&amp;cs)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LeaveCriticalSection(&amp;cs)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DeleteCriticalSection(&amp;cs)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Для потоков одного процесса.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8716660F-05A5-4361-8617-1D26657BE3B1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Ожидание условия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InitializeConditionVariable(&amp;cv)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SleepConditionVariableCS(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&amp;cv, &amp;cs, INFINITE)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WakeConditionVariable(&amp;cv)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WakeAllConditionVariable(&amp;cv)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Проверка условия в цикле.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57164A3D-B3A5-4645-9B08-2AED6B81B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Число потоков в Linux</a:t>
            </a:r>
            <a:endParaRPr sz="10000"/>
          </a:p>
        </p:txBody>
      </p:sp>
      <p:sp>
        <p:nvSpPr>
          <p:cNvPr id="2" name="cmake-commands">
            <a:extLst>
              <a:ext uri="{FF2B5EF4-FFF2-40B4-BE49-F238E27FC236}">
                <a16:creationId xmlns:a16="http://schemas.microsoft.com/office/drawing/2014/main" id="{B8614096-993B-40A0-9E1B-03C363A53623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ps -L -p &lt;PID&gt; -o pid,tid,stat,comm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ps -p &lt;PID&gt; -o nlwp=</a:t>
            </a:r>
            <a:endParaRPr sz="2550" b="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grep Threads /proc/&lt;PID&gt;/status</a:t>
            </a:r>
            <a:endParaRPr/>
          </a:p>
          <a:p>
            <a:pPr>
              <a:buNone/>
            </a:pPr>
            <a:endParaRPr sz="2550" b="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top -H -p &lt;PID&gt;</a:t>
            </a:r>
            <a:endParaRPr/>
          </a:p>
        </p:txBody>
      </p:sp>
      <p:sp>
        <p:nvSpPr>
          <p:cNvPr id="3" name="out-of-source-reasons">
            <a:extLst>
              <a:ext uri="{FF2B5EF4-FFF2-40B4-BE49-F238E27FC236}">
                <a16:creationId xmlns:a16="http://schemas.microsoft.com/office/drawing/2014/main" id="{45B9D5BD-7E31-45BD-B073-DF88C636850E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Что показывают</a:t>
            </a:r>
            <a:endParaRPr/>
          </a:p>
          <a:p>
            <a:pPr>
              <a:buNone/>
            </a:pPr>
            <a:endParaRPr sz="25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TID — ID потока ОС.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NLWP / Threads — число потоков процесса.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Главный поток входит в это число.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240250" y="2047875"/>
            <a:ext cx="4000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0FD0DE8C-08B9-4E01-9FFF-01E864BE5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Число потоков в Windows</a:t>
            </a:r>
            <a:endParaRPr sz="10000"/>
          </a:p>
        </p:txBody>
      </p:sp>
      <p:sp>
        <p:nvSpPr>
          <p:cNvPr id="2" name="cmake-commands">
            <a:extLst>
              <a:ext uri="{FF2B5EF4-FFF2-40B4-BE49-F238E27FC236}">
                <a16:creationId xmlns:a16="http://schemas.microsoft.com/office/drawing/2014/main" id="{71D10E9A-9FA8-4FEC-9C80-8E7F57FD4378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PowerShell: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(Get-Process -Id &lt;PID&gt;).Threads.Count</a:t>
            </a:r>
            <a:endParaRPr sz="2550" b="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(Get-Process -Id &lt;PID&gt;).Threads |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    Select-Object Id, ThreadState</a:t>
            </a:r>
            <a:endParaRPr sz="2550" b="0" i="1">
              <a:solidFill>
                <a:srgbClr val="161318"/>
              </a:solidFill>
              <a:latin typeface="Coil"/>
              <a:ea typeface="Coil"/>
              <a:cs typeface="Coil"/>
            </a:endParaRPr>
          </a:p>
        </p:txBody>
      </p:sp>
      <p:sp>
        <p:nvSpPr>
          <p:cNvPr id="3" name="out-of-source-reasons">
            <a:extLst>
              <a:ext uri="{FF2B5EF4-FFF2-40B4-BE49-F238E27FC236}">
                <a16:creationId xmlns:a16="http://schemas.microsoft.com/office/drawing/2014/main" id="{A8171624-A862-45A0-9013-2AD9A305CD32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Диспетчер задач</a:t>
            </a:r>
            <a:endParaRPr/>
          </a:p>
          <a:p>
            <a:pPr>
              <a:buNone/>
            </a:pPr>
            <a:endParaRPr sz="25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Вкладка «Подробности».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выборе столбцов включить «Потоки».</a:t>
            </a:r>
            <a:endParaRPr/>
          </a:p>
          <a:p>
            <a:pPr algn="l">
              <a:lnSpc>
                <a:spcPct val="100000"/>
              </a:lnSpc>
              <a:buNone/>
              <a:defRPr sz="25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Снять показания во время вычислений.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240250" y="2047875"/>
            <a:ext cx="4000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9A69F118-DDF4-424E-9497-9A4D7DA91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Измерение времени</a:t>
            </a:r>
            <a:endParaRPr sz="10000"/>
          </a:p>
        </p:txBody>
      </p:sp>
      <p:sp>
        <p:nvSpPr>
          <p:cNvPr id="2" name="link-code">
            <a:extLst>
              <a:ext uri="{FF2B5EF4-FFF2-40B4-BE49-F238E27FC236}">
                <a16:creationId xmlns:a16="http://schemas.microsoft.com/office/drawing/2014/main" id="{6E8FF989-0E1A-4B39-97B4-353885B3275E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5049500" cy="895350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POSIX: #include &lt;time.h&gt;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clock_gettime(CLOCK_MONOTONIC, &amp;ts);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Δt = Δtv_sec + Δtv_nsec / 10⁹</a:t>
            </a:r>
            <a:endParaRPr/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Windows:</a:t>
            </a:r>
            <a:endParaRPr sz="2400" i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QueryPerformanceCounter(&amp;counter);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QueryPerformanceFrequency(&amp;frequency);</a:t>
            </a:r>
            <a:endParaRPr/>
          </a:p>
          <a:p>
            <a:pPr algn="l">
              <a:lnSpc>
                <a:spcPct val="100000"/>
              </a:lnSpc>
              <a:buNone/>
              <a:defRPr sz="240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Δt = Δcounter / frequency</a:t>
            </a:r>
            <a:endParaRPr/>
          </a:p>
        </p:txBody>
      </p:sp>
      <p:sp>
        <p:nvSpPr>
          <p:cNvPr id="3" name="link-explanation">
            <a:extLst>
              <a:ext uri="{FF2B5EF4-FFF2-40B4-BE49-F238E27FC236}">
                <a16:creationId xmlns:a16="http://schemas.microsoft.com/office/drawing/2014/main" id="{7F50B5E1-AF5D-4169-ACB0-A06CA9A84263}"/>
              </a:ext>
            </a:extLst>
          </p:cNvPr>
          <p:cNvSpPr>
            <a:spLocks noGrp="1"/>
          </p:cNvSpPr>
          <p:nvPr/>
        </p:nvSpPr>
        <p:spPr>
          <a:xfrm>
            <a:off x="16764000" y="5524500"/>
            <a:ext cx="6477000" cy="65722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Сравнимые интервалы</a:t>
            </a:r>
            <a:endParaRPr/>
          </a:p>
          <a:p>
            <a:pPr>
              <a:buNone/>
            </a:pPr>
            <a:endParaRPr sz="2400" b="1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Нужно прошедшее время.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Границы измерения одинаковы для всех P.</a:t>
            </a:r>
            <a:endParaRPr/>
          </a:p>
          <a:p>
            <a:pPr>
              <a:buNone/>
            </a:pPr>
            <a:endParaRPr sz="240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34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34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clock() измеряет CPU time.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68875" y="1952625"/>
            <a:ext cx="40957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AC98EAF9-4AA1-48FE-85D0-E28B7DE94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Ускорение и эффективность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0A1EF961-C6A8-4C1D-ABD3-34DE8DFC4790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Ускорение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S(P) = T₁ / Tₚ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T₁ — время при одном вычислительном потоке.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Tₚ — время при P вычислительных потоках на тех же данных.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CCB876EB-E3AC-4876-BD4A-C0A1930F5011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Эффективность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E(P) = S(P) / P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 процентах: 100 × E(P).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Это метрика масштабирования, а не показание загрузки CPU.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00CE291E-0522-431F-9787-65D831B15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Почему ускорение ограничено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84DB53C4-EA03-4052-B8CB-3B3EB14445A7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Закон Амдала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S(P) ≤ 1 / [f + (1 − f) / P]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f — последовательная доля.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При росте P предел равен 1 / f, если f &gt; 0.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C18088D3-8AF8-4C5D-82B3-3729FB6063E4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Дополнительные затраты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Создание и переключение потоков.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Ожидание блокировок и дисбаланс.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Пропускная способность памяти, кэши и NUMA.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F005846B-C2D8-4792-BD71-4159D6833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Исследование для отчёта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8D47CD97-40D7-48D4-AD81-96EE220F74B8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Параметры эксперимента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Несколько размеров и типов данных.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 = 1, 2, 4, … в разумных пределах.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Одинаковые данные и оптимизация сборки.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Несколько повторов каждого запуска.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805B35DF-3874-4F76-B07C-7BF378F12605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Что сохранить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Время Tₚ, ускорение S(P), эффективность E(P).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Медиану и разброс измерений.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CPU, память, ОС, компилятор.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Объяснение плато и замедлений.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38A38F7B-4FF5-4778-9E48-A2892571F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Минимальный набор для ЛР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C29C0FF4-5FEC-43F9-BD43-428490647785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POSIX / Linux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pthread_create, pthread_join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pthread_mutex_* при общих записях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pthread_cond_* при ожидании условия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clock_gettime и ps / top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482EF03F-36FB-4777-B4B9-9A7F09E1F1F4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Windows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CreateThread или _beginthreadex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WaitForSingleObject, CloseHandle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CRITICAL_SECTION и CONDITION_VARIABLE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QueryPerformanceCounter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Диспетчер задач / PowerShell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23B24C6E-4EEB-47D0-A2E1-ECB030D55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619125"/>
            <a:ext cx="22098000" cy="171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defRPr>
            </a:pPr>
            <a:r>
              <a:rPr sz="8400" b="0" i="0">
                <a:solidFill>
                  <a:srgbClr val="E1CFFF"/>
                </a:solidFill>
                <a:latin typeface="Coil Medium"/>
                <a:ea typeface="Coil Medium"/>
                <a:cs typeface="Coil Medium"/>
              </a:rPr>
              <a:t>Материалы и справочники</a:t>
            </a:r>
            <a:endParaRPr sz="10000"/>
          </a:p>
        </p:txBody>
      </p:sp>
      <p:sp>
        <p:nvSpPr>
          <p:cNvPr id="2" name="make-use-cases">
            <a:extLst>
              <a:ext uri="{FF2B5EF4-FFF2-40B4-BE49-F238E27FC236}">
                <a16:creationId xmlns:a16="http://schemas.microsoft.com/office/drawing/2014/main" id="{28B7C6E6-F199-490A-A13F-3C9C5A4AD8CA}"/>
              </a:ext>
            </a:extLst>
          </p:cNvPr>
          <p:cNvSpPr>
            <a:spLocks noGrp="1"/>
          </p:cNvSpPr>
          <p:nvPr/>
        </p:nvSpPr>
        <p:spPr>
          <a:xfrm>
            <a:off x="1009650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Материалы курса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«Лабораторная работа 3.odt»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Требования и варианты.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«лекция_3.pdf»</a:t>
            </a: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Память, ядра, метрики.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«лекция_4_и_5.pdf»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Взаимоблокировки и планирование.</a:t>
            </a:r>
            <a:endParaRPr/>
          </a:p>
        </p:txBody>
      </p:sp>
      <p:sp>
        <p:nvSpPr>
          <p:cNvPr id="3" name="cmake-use-cases">
            <a:extLst>
              <a:ext uri="{FF2B5EF4-FFF2-40B4-BE49-F238E27FC236}">
                <a16:creationId xmlns:a16="http://schemas.microsoft.com/office/drawing/2014/main" id="{478180DE-4D56-4187-BF28-C50C957AADE1}"/>
              </a:ext>
            </a:extLst>
          </p:cNvPr>
          <p:cNvSpPr>
            <a:spLocks noGrp="1"/>
          </p:cNvSpPr>
          <p:nvPr/>
        </p:nvSpPr>
        <p:spPr>
          <a:xfrm>
            <a:off x="13573125" y="2619375"/>
            <a:ext cx="9810750" cy="8667750"/>
          </a:xfrm>
          <a:prstGeom prst="roundRect">
            <a:avLst>
              <a:gd name="adj" fmla="val 10526"/>
            </a:avLst>
          </a:prstGeom>
          <a:solidFill>
            <a:srgbClr val="F0E8F7"/>
          </a:solidFill>
          <a:ln w="0">
            <a:noFill/>
          </a:ln>
        </p:spPr>
        <p:txBody>
          <a:bodyPr wrap="square" lIns="342900" tIns="304800" rIns="342900" bIns="26670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Документация API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Linux man-pages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pthreads(7), pthread_create(3),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pthread_join(3), clock_gettime(3).</a:t>
            </a:r>
            <a:endParaRPr/>
          </a:p>
          <a:p>
            <a:pPr>
              <a:buNone/>
            </a:pPr>
            <a:endParaRPr sz="2850" b="0">
              <a:solidFill>
                <a:srgbClr val="161318"/>
              </a:solidFill>
              <a:latin typeface="Coil"/>
              <a:ea typeface="Coil"/>
              <a:cs typeface="Coil"/>
            </a:endParaRPr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Microsoft Learn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Threads, Critical Sections,</a:t>
            </a: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Condition Variables, QPC.</a:t>
            </a:r>
            <a:endParaRPr/>
          </a:p>
          <a:p>
            <a:pPr algn="l">
              <a:lnSpc>
                <a:spcPct val="100000"/>
              </a:lnSpc>
              <a:buNone/>
              <a:defRPr sz="2850" b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endParaRPr/>
          </a:p>
          <a:p>
            <a:pPr algn="l">
              <a:lnSpc>
                <a:spcPct val="100000"/>
              </a:lnSpc>
              <a:buNone/>
              <a:defRPr sz="4050" b="0" i="0">
                <a:solidFill>
                  <a:srgbClr val="161318"/>
                </a:solidFill>
                <a:latin typeface="Coil"/>
                <a:ea typeface="Coil"/>
                <a:cs typeface="Coil"/>
              </a:defRPr>
            </a:pPr>
            <a:r>
              <a:rPr sz="4050" b="0" i="0">
                <a:solidFill>
                  <a:srgbClr val="161318"/>
                </a:solidFill>
                <a:latin typeface="Coil"/>
                <a:ea typeface="Coil"/>
                <a:cs typeface="Coil"/>
              </a:rPr>
              <a:t>Ссылки в заметках к слайдам.</a:t>
            </a:r>
            <a:endParaRPr/>
          </a:p>
        </p:txBody>
      </p:sp>
      <p:pic>
        <p:nvPicPr>
          <p:cNvPr id="10" name="Picture 15976908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8858250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0024"/>
      </p:ext>
    </p:extLst>
  </p:cSld>
  <p:clrMapOvr>
    <a:masterClrMapping/>
  </p:clrMapOvr>
</p:sld>
</file>

<file path=ppt/theme/theme1.xml><?xml version="1.0" encoding="utf-8"?>
<a:theme xmlns:a="http://schemas.openxmlformats.org/drawingml/2006/main" name="Финтех 2025">
  <a:themeElements>
    <a:clrScheme name="Другая 385">
      <a:dk1>
        <a:srgbClr val="020205"/>
      </a:dk1>
      <a:lt1>
        <a:srgbClr val="FFFFFF"/>
      </a:lt1>
      <a:dk2>
        <a:srgbClr val="2F3033"/>
      </a:dk2>
      <a:lt2>
        <a:srgbClr val="F1EBF6"/>
      </a:lt2>
      <a:accent1>
        <a:srgbClr val="D8D0E5"/>
      </a:accent1>
      <a:accent2>
        <a:srgbClr val="E1CFFF"/>
      </a:accent2>
      <a:accent3>
        <a:srgbClr val="E8E8FF"/>
      </a:accent3>
      <a:accent4>
        <a:srgbClr val="844EDC"/>
      </a:accent4>
      <a:accent5>
        <a:srgbClr val="C62CD0"/>
      </a:accent5>
      <a:accent6>
        <a:srgbClr val="FF9A00"/>
      </a:accent6>
      <a:hlink>
        <a:srgbClr val="000000"/>
      </a:hlink>
      <a:folHlink>
        <a:srgbClr val="000000"/>
      </a:folHlink>
    </a:clrScheme>
    <a:fontScheme name="Другая 49">
      <a:majorFont>
        <a:latin typeface="Coil Medium"/>
        <a:ea typeface="Arial"/>
        <a:cs typeface="Arial"/>
      </a:majorFont>
      <a:minorFont>
        <a:latin typeface="Coil"/>
        <a:ea typeface="Arial"/>
        <a:cs typeface="Arial"/>
      </a:minorFont>
    </a:fontScheme>
    <a:fmtScheme name="Другая 38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Финтех 2025">
  <a:themeElements>
    <a:clrScheme name="Другая 385">
      <a:dk1>
        <a:srgbClr val="020205"/>
      </a:dk1>
      <a:lt1>
        <a:srgbClr val="FFFFFF"/>
      </a:lt1>
      <a:dk2>
        <a:srgbClr val="2F3033"/>
      </a:dk2>
      <a:lt2>
        <a:srgbClr val="F1EBF6"/>
      </a:lt2>
      <a:accent1>
        <a:srgbClr val="D8D0E5"/>
      </a:accent1>
      <a:accent2>
        <a:srgbClr val="E1CFFF"/>
      </a:accent2>
      <a:accent3>
        <a:srgbClr val="E8E8FF"/>
      </a:accent3>
      <a:accent4>
        <a:srgbClr val="844EDC"/>
      </a:accent4>
      <a:accent5>
        <a:srgbClr val="C62CD0"/>
      </a:accent5>
      <a:accent6>
        <a:srgbClr val="FF9A00"/>
      </a:accent6>
      <a:hlink>
        <a:srgbClr val="000000"/>
      </a:hlink>
      <a:folHlink>
        <a:srgbClr val="000000"/>
      </a:folHlink>
    </a:clrScheme>
    <a:fontScheme name="Другая 49">
      <a:majorFont>
        <a:latin typeface="Coil Medium"/>
        <a:ea typeface="Arial"/>
        <a:cs typeface="Arial"/>
      </a:majorFont>
      <a:minorFont>
        <a:latin typeface="Coil"/>
        <a:ea typeface="Arial"/>
        <a:cs typeface="Arial"/>
      </a:minorFont>
    </a:fontScheme>
    <a:fmtScheme name="Другая 38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4583</Words>
  <Application>Microsoft Macintosh PowerPoint</Application>
  <DocSecurity>0</DocSecurity>
  <PresentationFormat>Custom</PresentationFormat>
  <Paragraphs>620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 Unicode MS</vt:lpstr>
      <vt:lpstr>Arial</vt:lpstr>
      <vt:lpstr>Coil</vt:lpstr>
      <vt:lpstr>Coil Medium</vt:lpstr>
      <vt:lpstr>Финтех 2025</vt:lpstr>
      <vt:lpstr>Многопоточность в операционных системах</vt:lpstr>
      <vt:lpstr>Что требуется в ЛР 3</vt:lpstr>
      <vt:lpstr>Процесс и поток</vt:lpstr>
      <vt:lpstr>Два процесса или два потока?</vt:lpstr>
      <vt:lpstr>Одна переменная, разная память</vt:lpstr>
      <vt:lpstr>Конкурентность и параллелизм</vt:lpstr>
      <vt:lpstr>Системные вызовы и API потоков</vt:lpstr>
      <vt:lpstr>Создание потока: pthread_create</vt:lpstr>
      <vt:lpstr>Аргументы и ошибки pthreads</vt:lpstr>
      <vt:lpstr>Завершение: pthread_join</vt:lpstr>
      <vt:lpstr>Ограничение числа потоков</vt:lpstr>
      <vt:lpstr>Гонка данных</vt:lpstr>
      <vt:lpstr>Без блокировки: потерянное обновление</vt:lpstr>
      <vt:lpstr>Мьютекс: взаимное исключение</vt:lpstr>
      <vt:lpstr>Мьютекс: один ресурс, два потока</vt:lpstr>
      <vt:lpstr>Условная переменная: ожидание</vt:lpstr>
      <vt:lpstr>Барьер: завершение этапа</vt:lpstr>
      <vt:lpstr>Семафор: счётчик разрешений</vt:lpstr>
      <vt:lpstr>Взаимоблокировка</vt:lpstr>
      <vt:lpstr>Взаимоблокировка: оба ждут</vt:lpstr>
      <vt:lpstr>Windows: управление потоками</vt:lpstr>
      <vt:lpstr>Windows: синхронизация</vt:lpstr>
      <vt:lpstr>Число потоков в Linux</vt:lpstr>
      <vt:lpstr>Число потоков в Windows</vt:lpstr>
      <vt:lpstr>Измерение времени</vt:lpstr>
      <vt:lpstr>Ускорение и эффективность</vt:lpstr>
      <vt:lpstr>Почему ускорение ограничено</vt:lpstr>
      <vt:lpstr>Исследование для отчёта</vt:lpstr>
      <vt:lpstr>Минимальный набор для ЛР</vt:lpstr>
      <vt:lpstr>Материалы и справочники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Artem Yadrov</cp:lastModifiedBy>
  <cp:revision>1</cp:revision>
  <dcterms:created xsi:type="dcterms:W3CDTF">2026-10-01T08:58:10Z</dcterms:created>
  <dcterms:modified xsi:type="dcterms:W3CDTF">2026-10-01T10:34:50Z</dcterms:modified>
</cp:coreProperties>
</file>